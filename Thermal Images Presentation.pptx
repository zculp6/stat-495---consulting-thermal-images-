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57" r:id="rId6"/>
    <p:sldId id="262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6BA19-985B-4C57-B003-D6BE87741BB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1FA62-368D-474A-B4B0-842AADE45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0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Emissivity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effectiveness in emitting energy as</a:t>
            </a: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thermal radiation.</a:t>
            </a:r>
            <a:endParaRPr lang="en-US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E1FA62-368D-474A-B4B0-842AADE456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33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5903-7626-403D-5ADC-925E801DB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8450A-27F6-9B4D-B79B-A67CFCBFF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38CFB-1AFD-7D4A-DD46-5D5D7E216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9A4F-2E3E-2B0D-A6D8-952D7FA0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1CA84-37BD-283B-BB25-DF6057A4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43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A664-006E-A30E-9D72-48AFA153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1EEC0-51A1-0B8F-6B65-6707775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106D2-DD1C-1B00-7FD3-1E6A83F72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40298-4009-64F4-D053-21D036F3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55E5D-AB26-1CAF-4A7D-0A9BAFDF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5412-A99E-C806-0EE2-61DA39FF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C63C8-C9DD-FF16-5C4B-0216FAD44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1996-93D2-136C-0BA2-EE7EC82B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10556-3ED5-7EFE-B7F7-51163A57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EBD79-06F5-0415-649E-F145865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2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01D4-D250-A179-901F-351BB84F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4CAA3-93DB-3675-075B-03F675AAB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31B93-5E91-08CB-6D98-FF87F6233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27B7C-3F25-4666-7D39-90DB9CA7F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BC23A-BBB0-D6C6-D2F3-AA515359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CC3EC-7121-F1F2-AC5B-D7A3EE2E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7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1675-3C7C-EBF7-C030-D704491D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8C314-641B-0891-FAF6-EC34E914B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01FCA-3E93-84DF-5CA7-02847B663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A727C7-C2D2-99E4-B900-AB5F142CA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4A7FA-7DE8-B412-C076-EC83A4B70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DBB49-4371-9C8B-B6DA-DBD60097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E3824-D46E-24BD-DDA2-756749AC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069F2-4F80-6426-7E8E-69FA4822A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2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3418-04D3-DA0F-EFA8-9FC2FA097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78499-129A-CA4F-693D-989C6727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701ED-471B-AE61-6CE3-42CD6D13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55098-24CA-A0DD-7783-904B4F3E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7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5E8EB-CB4F-53CD-079A-170C3A5A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1B467-6E16-84F6-4E21-6093D21D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2E9FC-5DB0-BCA4-F4CE-4EE67FFE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7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565B-EA3D-3762-8627-3A89732F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AEA5F-E585-0BBB-0F03-1677051C8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AFEEE-7B1A-CA02-949E-0A7603C20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F4BA0-A69E-9EBF-DDEF-7A7777BE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500B-BBD8-8F59-1734-B277C3A6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0239B-72F9-1F81-DD57-EAF1377D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9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63AD-E19D-6979-AE87-79B6C99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2010C-8292-7B4E-4609-D31575C4F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966B0-A26F-F94F-F133-21137458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1FC9E-557D-80FD-55FD-3574AD33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694FF-43A9-F0C7-232E-86292CD7B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C73F2-6C38-A9AE-067D-0AB5F8A1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BD69-02DE-25B4-9651-217C6635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2E4E1-4D26-6DBB-E6F7-8F218FF1F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63060-624A-A18A-71EE-AE7AC2AEE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ECD2-20CE-7EC7-39D8-E37DEDE5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BD60A-7511-4011-F92C-76B32519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7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36E38-5AF3-6079-416D-E0A660EC9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7A328-46C6-1F51-39B1-2C3E1E91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7D42C-CC25-2471-E670-0C2EB082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2D374-21E7-DDE3-E666-43A8EA55B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1C47-36B1-6B22-74D6-5F23A91C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7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FEAE2-D7BC-D0EC-41A6-4A440FD03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0A7C6-118B-1D3A-7868-29307995C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C4ED-1A7B-3FAB-7220-CA657B2F8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FF22B-A6A5-4FC9-A8FF-09335443154A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796FF-0A4B-D829-C6C1-337B63933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14C51-7F0C-5D40-6F8E-0EC45037F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E8C06-1269-4584-8867-41155C974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9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7864C-D85E-6FDC-A62C-996817C79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Thermal Images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EA7DA-B7E2-B3BC-649D-46D6ABC84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Samantha Fleming &amp; Zach Culp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3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B5432-4A7E-85A4-9969-915386F4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BCF89F-5EA3-EBBC-ADA1-828136460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57366-798C-1542-BEFE-0C328C05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5D7D29-BAA6-7492-A2E2-A9F19471A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254B3D-9ABE-9E47-E365-B4F8FE97E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01664F-3DE4-98A9-E453-6BD2FCDAB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52F8A-4051-AF91-DA0F-E20F8C3A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FBF00-2059-E517-74AA-C89F02605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01325" cy="4451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Collect additional thermal images of windows and doors on campus </a:t>
            </a:r>
          </a:p>
          <a:p>
            <a:r>
              <a:rPr lang="en-US" dirty="0"/>
              <a:t>Using statistical or data science methods, create an algorithm that will clean images automatically</a:t>
            </a:r>
          </a:p>
          <a:p>
            <a:r>
              <a:rPr lang="en-US" dirty="0"/>
              <a:t>Any additional statistical insights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15FC194-3AB6-0F41-2E01-EB24113A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378" y="3228410"/>
            <a:ext cx="2468590" cy="33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7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339C1-8AA4-00E1-A4CA-84AA95F1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2E5979-1A48-008C-7ADE-370C83A8C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13B33-E006-1FE8-A7DE-CA27D873C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BC394-B7CF-82EA-5A64-E83CDED99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6ED53-1212-98E5-07D6-1E33C3940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44E463-1E08-9C7D-1201-C3B638D8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C6D45-F3AB-9F05-08DE-DE3272C5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Previous 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70104-C37C-AB30-367C-6803F93B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01325" cy="4451350"/>
          </a:xfrm>
        </p:spPr>
        <p:txBody>
          <a:bodyPr/>
          <a:lstStyle/>
          <a:p>
            <a:r>
              <a:rPr lang="en-US" dirty="0"/>
              <a:t>Created a database containing the data collected including photo ID, building name, side of building (ex. North), date/time, temperature, distance (fixed at 10 meters), floor level, image framing quality, and interior/exterior</a:t>
            </a:r>
          </a:p>
          <a:p>
            <a:r>
              <a:rPr lang="en-US" dirty="0"/>
              <a:t>Used machine learning algorithms to detect heat anomalies in building windows.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2F37E4FA-9E9C-5973-DFD1-59586ED5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23" y="4046764"/>
            <a:ext cx="2249261" cy="209822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E25631-9802-7D4E-E1A4-B4E487AF0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6" y="4936046"/>
            <a:ext cx="6558643" cy="123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2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E1926-EC1F-138A-1BA3-DED17DE32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983BA6-6DC9-1F99-46F3-32FEDDEF5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31FBC-AE4F-C239-14F5-49DDEBA2C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CEA28-1DEB-FC4E-2615-0767FF9B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3A3D0A-BAF8-E240-DDB7-AC62486FA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299425-3CC4-58C1-2FC7-C60038030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09CF-3106-8C6E-9AD9-17C4902F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Thermal Camera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205A2-8EB0-5E29-D1FE-F4745EA1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912" y="3825875"/>
            <a:ext cx="4840201" cy="165689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250221-FB0B-1085-D0E6-41BF5ACA0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4" y="2000250"/>
            <a:ext cx="2511425" cy="313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65D6A7-3454-2179-CDB0-AB52CEEE9726}"/>
              </a:ext>
            </a:extLst>
          </p:cNvPr>
          <p:cNvSpPr txBox="1"/>
          <p:nvPr/>
        </p:nvSpPr>
        <p:spPr>
          <a:xfrm>
            <a:off x="3910853" y="1900535"/>
            <a:ext cx="642499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Thermal cameras measure temperature at each pixel and display the results as a heat map showing how temperatures vary across the surface.</a:t>
            </a:r>
          </a:p>
          <a:p>
            <a:endParaRPr lang="en-US" b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Temperature may be in Fahrenheit or Celsius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>
              <a:effectLst/>
            </a:endParaRPr>
          </a:p>
        </p:txBody>
      </p:sp>
      <p:pic>
        <p:nvPicPr>
          <p:cNvPr id="3" name="Picture 2" descr="A hand holding a box with a infrared camera&#10;&#10;AI-generated content may be incorrect.">
            <a:extLst>
              <a:ext uri="{FF2B5EF4-FFF2-40B4-BE49-F238E27FC236}">
                <a16:creationId xmlns:a16="http://schemas.microsoft.com/office/drawing/2014/main" id="{600541A0-0A7C-5BCC-81D2-07C1EC902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563" y="2778125"/>
            <a:ext cx="3190875" cy="3867150"/>
          </a:xfrm>
          <a:prstGeom prst="rect">
            <a:avLst/>
          </a:prstGeom>
        </p:spPr>
      </p:pic>
      <p:pic>
        <p:nvPicPr>
          <p:cNvPr id="5" name="Picture 4" descr="A grey flashlight in a box&#10;&#10;AI-generated content may be incorrect.">
            <a:extLst>
              <a:ext uri="{FF2B5EF4-FFF2-40B4-BE49-F238E27FC236}">
                <a16:creationId xmlns:a16="http://schemas.microsoft.com/office/drawing/2014/main" id="{1F03BA55-1847-3FB6-14E4-6884D884B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949700" y="3189288"/>
            <a:ext cx="3098800" cy="380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5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3B071F-C5A4-824E-0AF1-8E924B4F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Image Cleaning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D014C9-095C-2012-3680-8655CBF79A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608" y="2181426"/>
            <a:ext cx="2998227" cy="3997637"/>
          </a:xfrm>
          <a:prstGeom prst="rect">
            <a:avLst/>
          </a:prstGeom>
        </p:spPr>
      </p:pic>
      <p:pic>
        <p:nvPicPr>
          <p:cNvPr id="7" name="Picture 6" descr="A yellow door with a purple background&#10;&#10;AI-generated content may be incorrect.">
            <a:extLst>
              <a:ext uri="{FF2B5EF4-FFF2-40B4-BE49-F238E27FC236}">
                <a16:creationId xmlns:a16="http://schemas.microsoft.com/office/drawing/2014/main" id="{953E11DB-4B37-1129-7E46-74745951F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7" y="2181232"/>
            <a:ext cx="2998373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1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41581-E5EC-4415-B96F-D5820F11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0B840C9-992B-AC80-2BB3-F33C73F8E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AFC3A1-C0C7-4B92-81B4-A0765FFB1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792F61-9D2F-0C06-C46F-388800A96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087AEF-DDCB-5A5A-B510-C5357EE34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622467-BC1B-1B7B-578A-EA147E794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6DE5C-3E68-7AEF-95CA-6B18DDFB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Interface Description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C22903-A449-908A-EC61-E32586E43F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337" y="1817351"/>
            <a:ext cx="3515616" cy="468748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E3EC9B-F657-67CD-3855-832316F4BF6E}"/>
              </a:ext>
            </a:extLst>
          </p:cNvPr>
          <p:cNvCxnSpPr>
            <a:cxnSpLocks/>
          </p:cNvCxnSpPr>
          <p:nvPr/>
        </p:nvCxnSpPr>
        <p:spPr>
          <a:xfrm flipH="1">
            <a:off x="7734953" y="6295290"/>
            <a:ext cx="1381615" cy="78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4A7873-E4C6-2B39-6565-743EB6C75E21}"/>
              </a:ext>
            </a:extLst>
          </p:cNvPr>
          <p:cNvSpPr txBox="1"/>
          <p:nvPr/>
        </p:nvSpPr>
        <p:spPr>
          <a:xfrm>
            <a:off x="9116568" y="5943600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Emissivity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B57B21-DEAF-1CD9-FA99-9EE125CB1D34}"/>
              </a:ext>
            </a:extLst>
          </p:cNvPr>
          <p:cNvCxnSpPr/>
          <p:nvPr/>
        </p:nvCxnSpPr>
        <p:spPr>
          <a:xfrm flipH="1">
            <a:off x="7734953" y="4005072"/>
            <a:ext cx="859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D049D06-D5B1-FBFB-8482-401F9B2C5295}"/>
              </a:ext>
            </a:extLst>
          </p:cNvPr>
          <p:cNvSpPr txBox="1"/>
          <p:nvPr/>
        </p:nvSpPr>
        <p:spPr>
          <a:xfrm>
            <a:off x="8594815" y="3758184"/>
            <a:ext cx="265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Color-Temperature Scale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FD229E-FF32-8835-96C3-802C0800999D}"/>
              </a:ext>
            </a:extLst>
          </p:cNvPr>
          <p:cNvCxnSpPr/>
          <p:nvPr/>
        </p:nvCxnSpPr>
        <p:spPr>
          <a:xfrm>
            <a:off x="2926080" y="2011680"/>
            <a:ext cx="1293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2AA931-DAF5-4F5B-E9AB-13AA493B553A}"/>
              </a:ext>
            </a:extLst>
          </p:cNvPr>
          <p:cNvSpPr txBox="1"/>
          <p:nvPr/>
        </p:nvSpPr>
        <p:spPr>
          <a:xfrm>
            <a:off x="502920" y="1737360"/>
            <a:ext cx="2450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Real-time Center Temperature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62F336-7B94-1458-9C8C-FA0B8110911C}"/>
              </a:ext>
            </a:extLst>
          </p:cNvPr>
          <p:cNvCxnSpPr>
            <a:cxnSpLocks/>
          </p:cNvCxnSpPr>
          <p:nvPr/>
        </p:nvCxnSpPr>
        <p:spPr>
          <a:xfrm flipV="1">
            <a:off x="2148840" y="3364992"/>
            <a:ext cx="2889504" cy="557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AE8E53-7479-1007-7144-D43D2283B166}"/>
              </a:ext>
            </a:extLst>
          </p:cNvPr>
          <p:cNvSpPr txBox="1"/>
          <p:nvPr/>
        </p:nvSpPr>
        <p:spPr>
          <a:xfrm>
            <a:off x="210713" y="3599610"/>
            <a:ext cx="1993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Min. Temperature Display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4D6D339-2D4B-4B01-708E-EB00C4F2EC08}"/>
              </a:ext>
            </a:extLst>
          </p:cNvPr>
          <p:cNvCxnSpPr/>
          <p:nvPr/>
        </p:nvCxnSpPr>
        <p:spPr>
          <a:xfrm flipV="1">
            <a:off x="3072384" y="4837176"/>
            <a:ext cx="3310128" cy="493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B961FEE-848A-AF53-45CC-281A1D8C82F3}"/>
              </a:ext>
            </a:extLst>
          </p:cNvPr>
          <p:cNvSpPr txBox="1"/>
          <p:nvPr/>
        </p:nvSpPr>
        <p:spPr>
          <a:xfrm>
            <a:off x="918972" y="5147839"/>
            <a:ext cx="2459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Max. Temperature Display</a:t>
            </a:r>
          </a:p>
        </p:txBody>
      </p:sp>
    </p:spTree>
    <p:extLst>
      <p:ext uri="{BB962C8B-B14F-4D97-AF65-F5344CB8AC3E}">
        <p14:creationId xmlns:p14="http://schemas.microsoft.com/office/powerpoint/2010/main" val="284868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0FABD-1999-D92B-F05A-C6E483DD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E98BA3-9C3D-E004-A708-F2B9F8D25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8570F-6620-B3CC-DB0D-AFFD44EB1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89BBA-DBA9-72BC-89ED-BBCB49D22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67B327-3571-9069-1989-9F501B92F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682E35-EAB5-C428-16E3-164AE5489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7CA1B-3D9F-68E2-37E8-CF5FD0EF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Limitations &amp; Potential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BDCE5-58BE-799B-1846-BB220980D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01325" cy="4451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want to compare older and newer buildings on campus, but some of the newest (Environmental Science building) have coatings too efficient</a:t>
            </a:r>
          </a:p>
          <a:p>
            <a:r>
              <a:rPr lang="en-US" dirty="0"/>
              <a:t>Therefore, only Cuneo and </a:t>
            </a:r>
            <a:r>
              <a:rPr lang="en-US" dirty="0" err="1"/>
              <a:t>Dumbach</a:t>
            </a:r>
            <a:r>
              <a:rPr lang="en-US" dirty="0"/>
              <a:t> are the buildings that we are working with</a:t>
            </a:r>
          </a:p>
          <a:p>
            <a:r>
              <a:rPr lang="en-US" dirty="0"/>
              <a:t>Reflections or shadows may impact the temperature readings, creating unwanted noise.</a:t>
            </a:r>
          </a:p>
          <a:p>
            <a:r>
              <a:rPr lang="en-US" dirty="0"/>
              <a:t>The overall number of images is lower </a:t>
            </a:r>
            <a:r>
              <a:rPr lang="en-US"/>
              <a:t>than desired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343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A58B1-CDB3-07FF-9A08-75E3A71C2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5E74AC-4D7A-04A2-7643-9DE059540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607546-EF35-EBC2-4436-B3877BC62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C0DB30-DB5E-D311-7D22-2C06686EC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5FE274-5F93-894D-7C1A-F13CF7F2F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9D517A-F08E-FA14-87FE-2E2FAB9E7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6AD1A-7974-33C4-E5F2-D7831CD0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25CDE-9DF2-DFEB-E5F5-68B4114C2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01325" cy="4451350"/>
          </a:xfrm>
        </p:spPr>
        <p:txBody>
          <a:bodyPr/>
          <a:lstStyle/>
          <a:p>
            <a:r>
              <a:rPr lang="en-US" dirty="0"/>
              <a:t>Start taking pictures around Cuneo and </a:t>
            </a:r>
            <a:r>
              <a:rPr lang="en-US" dirty="0" err="1"/>
              <a:t>Dumbach</a:t>
            </a:r>
            <a:r>
              <a:rPr lang="en-US" dirty="0"/>
              <a:t> Hall to add to the database</a:t>
            </a:r>
          </a:p>
          <a:p>
            <a:r>
              <a:rPr lang="en-US" dirty="0"/>
              <a:t>Begin creating the algorithm to detect and clean the images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898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D13F7-C93D-F1E7-5A33-10D54BCE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9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251</Words>
  <Application>Microsoft Office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Thermal Images</vt:lpstr>
      <vt:lpstr>Purpose</vt:lpstr>
      <vt:lpstr>Previous Works</vt:lpstr>
      <vt:lpstr>Thermal Camera</vt:lpstr>
      <vt:lpstr>Image Cleaning</vt:lpstr>
      <vt:lpstr>Interface Description</vt:lpstr>
      <vt:lpstr>Limitations &amp; Potential Issues</vt:lpstr>
      <vt:lpstr>Next Steps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Culp, Zach</dc:creator>
  <cp:lastModifiedBy>Culp, Zach</cp:lastModifiedBy>
  <cp:revision>60</cp:revision>
  <dcterms:created xsi:type="dcterms:W3CDTF">2025-09-17T15:45:19Z</dcterms:created>
  <dcterms:modified xsi:type="dcterms:W3CDTF">2025-09-17T18:13:57Z</dcterms:modified>
</cp:coreProperties>
</file>