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7"/>
  </p:notesMasterIdLst>
  <p:sldIdLst>
    <p:sldId id="256" r:id="rId2"/>
    <p:sldId id="257" r:id="rId3"/>
    <p:sldId id="266" r:id="rId4"/>
    <p:sldId id="258" r:id="rId5"/>
    <p:sldId id="259" r:id="rId6"/>
    <p:sldId id="264" r:id="rId7"/>
    <p:sldId id="270" r:id="rId8"/>
    <p:sldId id="260" r:id="rId9"/>
    <p:sldId id="263" r:id="rId10"/>
    <p:sldId id="267" r:id="rId11"/>
    <p:sldId id="268" r:id="rId12"/>
    <p:sldId id="271" r:id="rId13"/>
    <p:sldId id="272" r:id="rId14"/>
    <p:sldId id="269"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94660"/>
  </p:normalViewPr>
  <p:slideViewPr>
    <p:cSldViewPr snapToGrid="0">
      <p:cViewPr varScale="1">
        <p:scale>
          <a:sx n="95" d="100"/>
          <a:sy n="95" d="100"/>
        </p:scale>
        <p:origin x="108"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2F97F-C003-4374-846A-8351EEAFC8F6}" type="datetimeFigureOut">
              <a:rPr lang="en-US" smtClean="0"/>
              <a:t>9/26/2025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F9DB64-28F5-432A-9006-30998586B36E}" type="slidenum">
              <a:rPr lang="en-US" smtClean="0"/>
              <a:t>‹#›</a:t>
            </a:fld>
            <a:endParaRPr lang="en-US"/>
          </a:p>
        </p:txBody>
      </p:sp>
    </p:spTree>
    <p:extLst>
      <p:ext uri="{BB962C8B-B14F-4D97-AF65-F5344CB8AC3E}">
        <p14:creationId xmlns:p14="http://schemas.microsoft.com/office/powerpoint/2010/main" val="328360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F9DB64-28F5-432A-9006-30998586B36E}" type="slidenum">
              <a:rPr lang="en-US" smtClean="0"/>
              <a:t>3</a:t>
            </a:fld>
            <a:endParaRPr lang="en-US"/>
          </a:p>
        </p:txBody>
      </p:sp>
    </p:spTree>
    <p:extLst>
      <p:ext uri="{BB962C8B-B14F-4D97-AF65-F5344CB8AC3E}">
        <p14:creationId xmlns:p14="http://schemas.microsoft.com/office/powerpoint/2010/main" val="2623706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C0C22-EBDA-4130-87AE-CB28BC19B077}"/>
              </a:ext>
            </a:extLst>
          </p:cNvPr>
          <p:cNvSpPr>
            <a:spLocks noGrp="1"/>
          </p:cNvSpPr>
          <p:nvPr>
            <p:ph type="dt" sz="half" idx="10"/>
          </p:nvPr>
        </p:nvSpPr>
        <p:spPr/>
        <p:txBody>
          <a:bodyPr/>
          <a:lstStyle/>
          <a:p>
            <a:fld id="{82EDB8D0-98ED-4B86-9D5F-E61ADC70144D}" type="datetimeFigureOut">
              <a:rPr lang="en-US" smtClean="0"/>
              <a:t>9/26/2025</a:t>
            </a:fld>
            <a:endParaRPr lang="en-US" dirty="0"/>
          </a:p>
        </p:txBody>
      </p:sp>
      <p:sp>
        <p:nvSpPr>
          <p:cNvPr id="5" name="Footer Placeholder 4">
            <a:extLst>
              <a:ext uri="{FF2B5EF4-FFF2-40B4-BE49-F238E27FC236}">
                <a16:creationId xmlns:a16="http://schemas.microsoft.com/office/drawing/2014/main" id="{E2A419A8-07CA-4A4C-AEC2-C40D4D50A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A7B86-E610-42EA-B4DC-C2F44778527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8A7BA06D-B3FF-4E91-8639-B4569AE3AA23}"/>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B30C86D-5A07-48BC-9C9D-6F9A2DB1E9E1}"/>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185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38200" y="1825625"/>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p>
            <a:fld id="{82EDB8D0-98ED-4B86-9D5F-E61ADC70144D}" type="datetimeFigureOut">
              <a:rPr lang="en-US" smtClean="0"/>
              <a:t>9/26/2025</a:t>
            </a:fld>
            <a:endParaRPr lang="en-US" dirty="0"/>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1971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5F313-1240-47AE-A026-7F349292B5CA}"/>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5" name="Footer Placeholder 4">
            <a:extLst>
              <a:ext uri="{FF2B5EF4-FFF2-40B4-BE49-F238E27FC236}">
                <a16:creationId xmlns:a16="http://schemas.microsoft.com/office/drawing/2014/main" id="{22448158-6132-4335-B8E1-F6A896383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4C5B6-1598-48B4-9B3A-3078FDBE90B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9" name="Freeform: Shape 8">
            <a:extLst>
              <a:ext uri="{FF2B5EF4-FFF2-40B4-BE49-F238E27FC236}">
                <a16:creationId xmlns:a16="http://schemas.microsoft.com/office/drawing/2014/main" id="{FEDBDD32-D3EE-4848-A112-BA814D4631CD}"/>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1350361-843C-49D0-BD6A-ECDBA3842BA0}"/>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323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021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051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9381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1231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016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0853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E5D1-6D19-4E7F-9B4E-42326B771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D2A06C-F91A-4ADC-9CD2-61F0A4D7EE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3AA9A-2280-4F63-8B3D-20742AE6901F}"/>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5" name="Footer Placeholder 4">
            <a:extLst>
              <a:ext uri="{FF2B5EF4-FFF2-40B4-BE49-F238E27FC236}">
                <a16:creationId xmlns:a16="http://schemas.microsoft.com/office/drawing/2014/main" id="{E40D986B-E58E-43B6-8A80-FFA9D8F74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40D36-2E71-4F27-967F-7A3E4C6EE19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C1609904-5327-4D2C-A445-B270A00F3B5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30FC7BEC-08C5-4D95-9C84-B48BC8AD1C9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142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FEA3D-0C7F-45CD-B6A0-942F707B3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8B8A12-BCE6-4D03-A637-1DEC8924B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9755-9FF4-428A-AEB7-1A6477466741}"/>
              </a:ext>
            </a:extLst>
          </p:cNvPr>
          <p:cNvSpPr>
            <a:spLocks noGrp="1"/>
          </p:cNvSpPr>
          <p:nvPr>
            <p:ph type="dt" sz="half" idx="10"/>
          </p:nvPr>
        </p:nvSpPr>
        <p:spPr/>
        <p:txBody>
          <a:bodyPr/>
          <a:lstStyle/>
          <a:p>
            <a:fld id="{82EDB8D0-98ED-4B86-9D5F-E61ADC70144D}" type="datetimeFigureOut">
              <a:rPr lang="en-US" smtClean="0"/>
              <a:t>9/26/2025</a:t>
            </a:fld>
            <a:endParaRPr lang="en-US"/>
          </a:p>
        </p:txBody>
      </p:sp>
      <p:sp>
        <p:nvSpPr>
          <p:cNvPr id="5" name="Footer Placeholder 4">
            <a:extLst>
              <a:ext uri="{FF2B5EF4-FFF2-40B4-BE49-F238E27FC236}">
                <a16:creationId xmlns:a16="http://schemas.microsoft.com/office/drawing/2014/main" id="{A5141836-11E2-49FD-877D-53B74514A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24C42-4B05-4EEF-BE14-29041EC9C0E5}"/>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5BADDEB1-F604-408B-B02A-A2814606E6A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D8DF7987-332F-4D6C-81C3-990F39C76C96}"/>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971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cap="none" spc="0" baseline="0">
                <a:solidFill>
                  <a:schemeClr val="tx1">
                    <a:tint val="75000"/>
                  </a:schemeClr>
                </a:solidFill>
                <a:latin typeface="+mn-lt"/>
              </a:defRPr>
            </a:lvl1pPr>
          </a:lstStyle>
          <a:p>
            <a:fld id="{82EDB8D0-98ED-4B86-9D5F-E61ADC70144D}" type="datetimeFigureOut">
              <a:rPr lang="en-US" smtClean="0"/>
              <a:pPr/>
              <a:t>9/26/2025</a:t>
            </a:fld>
            <a:endParaRPr lang="en-US" dirty="0"/>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cap="none" spc="0" baseline="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cap="none" spc="0" baseline="0">
                <a:solidFill>
                  <a:schemeClr val="tx1">
                    <a:tint val="75000"/>
                  </a:schemeClr>
                </a:solidFill>
                <a:latin typeface="+mn-lt"/>
              </a:defRPr>
            </a:lvl1pPr>
          </a:lstStyle>
          <a:p>
            <a:fld id="{4854181D-6920-4594-9A5D-6CE56DC9F8B2}" type="slidenum">
              <a:rPr lang="en-US" smtClean="0"/>
              <a:pPr/>
              <a:t>‹#›</a:t>
            </a:fld>
            <a:endParaRPr lang="en-US"/>
          </a:p>
        </p:txBody>
      </p:sp>
    </p:spTree>
    <p:extLst>
      <p:ext uri="{BB962C8B-B14F-4D97-AF65-F5344CB8AC3E}">
        <p14:creationId xmlns:p14="http://schemas.microsoft.com/office/powerpoint/2010/main" val="392705217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14" r:id="rId5"/>
    <p:sldLayoutId id="2147483719" r:id="rId6"/>
    <p:sldLayoutId id="2147483715" r:id="rId7"/>
    <p:sldLayoutId id="2147483716" r:id="rId8"/>
    <p:sldLayoutId id="2147483717" r:id="rId9"/>
    <p:sldLayoutId id="2147483718" r:id="rId10"/>
    <p:sldLayoutId id="2147483720" r:id="rId11"/>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hyperlink" Target="https://www.annualreviews.org/content/journals/10.1146/annurev-statistics-033021-110117#right-ref-B68"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paulamoraga.com/book-spatial/spatial-point-processes-and-simulation.html" TargetMode="External"/><Relationship Id="rId2" Type="http://schemas.openxmlformats.org/officeDocument/2006/relationships/hyperlink" Target="https://doi.org/10.1146/annurev-statistics-033021-11011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F8A656C-0806-4677-A38B-DA5DF0F3C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542418CF-281B-19CC-EF0D-26D10591FCA6}"/>
              </a:ext>
            </a:extLst>
          </p:cNvPr>
          <p:cNvPicPr>
            <a:picLocks noChangeAspect="1"/>
          </p:cNvPicPr>
          <p:nvPr/>
        </p:nvPicPr>
        <p:blipFill>
          <a:blip r:embed="rId2">
            <a:alphaModFix amt="55000"/>
          </a:blip>
          <a:srcRect t="3298" b="16914"/>
          <a:stretch>
            <a:fillRect/>
          </a:stretch>
        </p:blipFill>
        <p:spPr>
          <a:xfrm>
            <a:off x="20" y="10"/>
            <a:ext cx="12191980" cy="6857990"/>
          </a:xfrm>
          <a:prstGeom prst="rect">
            <a:avLst/>
          </a:prstGeom>
        </p:spPr>
      </p:pic>
      <p:sp>
        <p:nvSpPr>
          <p:cNvPr id="11" name="Rectangle: Rounded Corners 10">
            <a:extLst>
              <a:ext uri="{FF2B5EF4-FFF2-40B4-BE49-F238E27FC236}">
                <a16:creationId xmlns:a16="http://schemas.microsoft.com/office/drawing/2014/main" id="{9BEF8C6D-8BB3-473A-9607-D7381CC5C0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7537" y="643467"/>
            <a:ext cx="5520995" cy="5215839"/>
          </a:xfrm>
          <a:prstGeom prst="roundRect">
            <a:avLst>
              <a:gd name="adj" fmla="val 265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C3BBF1-AF2B-C24D-66CE-D690C33C413A}"/>
              </a:ext>
            </a:extLst>
          </p:cNvPr>
          <p:cNvSpPr>
            <a:spLocks noGrp="1"/>
          </p:cNvSpPr>
          <p:nvPr>
            <p:ph type="ctrTitle"/>
          </p:nvPr>
        </p:nvSpPr>
        <p:spPr>
          <a:xfrm>
            <a:off x="6257047" y="795509"/>
            <a:ext cx="5037616" cy="3011340"/>
          </a:xfrm>
        </p:spPr>
        <p:txBody>
          <a:bodyPr>
            <a:normAutofit/>
          </a:bodyPr>
          <a:lstStyle/>
          <a:p>
            <a:r>
              <a:rPr lang="en-US"/>
              <a:t>Spatial Statistics in Sports</a:t>
            </a:r>
            <a:endParaRPr lang="en-US" dirty="0"/>
          </a:p>
        </p:txBody>
      </p:sp>
      <p:sp>
        <p:nvSpPr>
          <p:cNvPr id="3" name="Subtitle 2">
            <a:extLst>
              <a:ext uri="{FF2B5EF4-FFF2-40B4-BE49-F238E27FC236}">
                <a16:creationId xmlns:a16="http://schemas.microsoft.com/office/drawing/2014/main" id="{00E4EA86-84AD-227A-CFCD-D8FD4ECC206A}"/>
              </a:ext>
            </a:extLst>
          </p:cNvPr>
          <p:cNvSpPr>
            <a:spLocks noGrp="1"/>
          </p:cNvSpPr>
          <p:nvPr>
            <p:ph type="subTitle" idx="1"/>
          </p:nvPr>
        </p:nvSpPr>
        <p:spPr>
          <a:xfrm>
            <a:off x="6257047" y="3898924"/>
            <a:ext cx="5037616" cy="1777878"/>
          </a:xfrm>
        </p:spPr>
        <p:txBody>
          <a:bodyPr>
            <a:normAutofit/>
          </a:bodyPr>
          <a:lstStyle/>
          <a:p>
            <a:r>
              <a:rPr lang="en-US" dirty="0"/>
              <a:t>Zach Culp</a:t>
            </a:r>
          </a:p>
        </p:txBody>
      </p:sp>
      <p:sp>
        <p:nvSpPr>
          <p:cNvPr id="13" name="Arc 12">
            <a:extLst>
              <a:ext uri="{FF2B5EF4-FFF2-40B4-BE49-F238E27FC236}">
                <a16:creationId xmlns:a16="http://schemas.microsoft.com/office/drawing/2014/main" id="{DCFDFFB9-D302-4A05-A770-D33232254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6764" y="906791"/>
            <a:ext cx="2987899" cy="2987899"/>
          </a:xfrm>
          <a:prstGeom prst="arc">
            <a:avLst>
              <a:gd name="adj1" fmla="val 16200000"/>
              <a:gd name="adj2" fmla="val 114657"/>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5736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Arc 1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1CA8C45-519E-F03C-253D-7A8A2FC91FD9}"/>
              </a:ext>
            </a:extLst>
          </p:cNvPr>
          <p:cNvSpPr>
            <a:spLocks noGrp="1"/>
          </p:cNvSpPr>
          <p:nvPr>
            <p:ph type="title"/>
          </p:nvPr>
        </p:nvSpPr>
        <p:spPr>
          <a:xfrm>
            <a:off x="436124" y="336239"/>
            <a:ext cx="5458838" cy="1325563"/>
          </a:xfrm>
        </p:spPr>
        <p:txBody>
          <a:bodyPr>
            <a:normAutofit/>
          </a:bodyPr>
          <a:lstStyle/>
          <a:p>
            <a:r>
              <a:rPr lang="en-US" dirty="0"/>
              <a:t>What is Spatial Statistics?</a:t>
            </a:r>
          </a:p>
        </p:txBody>
      </p:sp>
      <p:sp>
        <p:nvSpPr>
          <p:cNvPr id="13" name="Freeform: Shape 1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E0F9BA9-8727-614E-0B2F-7B2A64F5EBC4}"/>
              </a:ext>
            </a:extLst>
          </p:cNvPr>
          <p:cNvSpPr>
            <a:spLocks noGrp="1"/>
          </p:cNvSpPr>
          <p:nvPr>
            <p:ph idx="1"/>
          </p:nvPr>
        </p:nvSpPr>
        <p:spPr>
          <a:xfrm>
            <a:off x="509046" y="1859028"/>
            <a:ext cx="9036888" cy="3627372"/>
          </a:xfrm>
        </p:spPr>
        <p:txBody>
          <a:bodyPr>
            <a:normAutofit/>
          </a:bodyPr>
          <a:lstStyle/>
          <a:p>
            <a:r>
              <a:rPr lang="en-US" dirty="0"/>
              <a:t>“Spatial statistics is concerned with statistical methods for data that are spatially referenced, i.e., where the data locations themselves carry information.”</a:t>
            </a:r>
            <a:br>
              <a:rPr lang="en-US" dirty="0"/>
            </a:br>
            <a:r>
              <a:rPr lang="en-US" i="1" dirty="0"/>
              <a:t>(Cressie, N. A. C. (1993). Statistics for Spatial Data. Wiley.)</a:t>
            </a:r>
          </a:p>
          <a:p>
            <a:r>
              <a:rPr lang="en-US" dirty="0"/>
              <a:t>Goal: to understand patterns, correlations, and/or dependencies in space</a:t>
            </a:r>
          </a:p>
        </p:txBody>
      </p:sp>
    </p:spTree>
    <p:extLst>
      <p:ext uri="{BB962C8B-B14F-4D97-AF65-F5344CB8AC3E}">
        <p14:creationId xmlns:p14="http://schemas.microsoft.com/office/powerpoint/2010/main" val="25594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60697-0F59-1576-F00C-BD67DEBE173B}"/>
              </a:ext>
            </a:extLst>
          </p:cNvPr>
          <p:cNvSpPr>
            <a:spLocks noGrp="1"/>
          </p:cNvSpPr>
          <p:nvPr>
            <p:ph type="title"/>
          </p:nvPr>
        </p:nvSpPr>
        <p:spPr/>
        <p:txBody>
          <a:bodyPr/>
          <a:lstStyle/>
          <a:p>
            <a:r>
              <a:rPr lang="en-US" dirty="0"/>
              <a:t>Basis of Spatial Statistical Techniques</a:t>
            </a:r>
          </a:p>
        </p:txBody>
      </p:sp>
      <p:sp>
        <p:nvSpPr>
          <p:cNvPr id="3" name="Content Placeholder 2">
            <a:extLst>
              <a:ext uri="{FF2B5EF4-FFF2-40B4-BE49-F238E27FC236}">
                <a16:creationId xmlns:a16="http://schemas.microsoft.com/office/drawing/2014/main" id="{58A5D169-2FCA-F255-C517-268757148087}"/>
              </a:ext>
            </a:extLst>
          </p:cNvPr>
          <p:cNvSpPr>
            <a:spLocks noGrp="1"/>
          </p:cNvSpPr>
          <p:nvPr>
            <p:ph idx="1"/>
          </p:nvPr>
        </p:nvSpPr>
        <p:spPr/>
        <p:txBody>
          <a:bodyPr/>
          <a:lstStyle/>
          <a:p>
            <a:r>
              <a:rPr lang="en-US" dirty="0"/>
              <a:t>Common methods: Ripley’s K, Moran’s I, spatial point process models</a:t>
            </a:r>
          </a:p>
          <a:p>
            <a:r>
              <a:rPr lang="en-US" dirty="0"/>
              <a:t>Most other methods that deal with spatial statistics are based in regression and machine learning models.</a:t>
            </a:r>
          </a:p>
          <a:p>
            <a:r>
              <a:rPr lang="en-US" dirty="0"/>
              <a:t>For predictions, the response variable is a function of the (X,Y) coordinates based in mathematics or physics.</a:t>
            </a:r>
          </a:p>
          <a:p>
            <a:r>
              <a:rPr lang="en-US" dirty="0"/>
              <a:t>For understanding correlation in space, the response is often stochastic</a:t>
            </a:r>
          </a:p>
        </p:txBody>
      </p:sp>
    </p:spTree>
    <p:extLst>
      <p:ext uri="{BB962C8B-B14F-4D97-AF65-F5344CB8AC3E}">
        <p14:creationId xmlns:p14="http://schemas.microsoft.com/office/powerpoint/2010/main" val="1882528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EA28911-E0CA-2809-90AA-46050E1BFDFB}"/>
              </a:ext>
            </a:extLst>
          </p:cNvPr>
          <p:cNvSpPr>
            <a:spLocks noGrp="1"/>
          </p:cNvSpPr>
          <p:nvPr>
            <p:ph type="title"/>
          </p:nvPr>
        </p:nvSpPr>
        <p:spPr>
          <a:xfrm>
            <a:off x="5894962" y="479493"/>
            <a:ext cx="5458838" cy="1325563"/>
          </a:xfrm>
        </p:spPr>
        <p:txBody>
          <a:bodyPr>
            <a:normAutofit/>
          </a:bodyPr>
          <a:lstStyle/>
          <a:p>
            <a:r>
              <a:rPr lang="en-US"/>
              <a:t>How to do EDA with Spatial Data?</a:t>
            </a:r>
            <a:endParaRPr lang="en-US" dirty="0"/>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C89D6AFC-EAF5-647B-814F-E99E3AFFAAD0}"/>
              </a:ext>
            </a:extLst>
          </p:cNvPr>
          <p:cNvSpPr>
            <a:spLocks noGrp="1"/>
          </p:cNvSpPr>
          <p:nvPr>
            <p:ph idx="1"/>
          </p:nvPr>
        </p:nvSpPr>
        <p:spPr>
          <a:xfrm>
            <a:off x="5894962" y="1984443"/>
            <a:ext cx="5458838" cy="4192520"/>
          </a:xfrm>
        </p:spPr>
        <p:txBody>
          <a:bodyPr>
            <a:normAutofit/>
          </a:bodyPr>
          <a:lstStyle/>
          <a:p>
            <a:r>
              <a:rPr lang="en-US" dirty="0"/>
              <a:t>The most commonly used EDA plot in sports is the shot chart</a:t>
            </a:r>
          </a:p>
          <a:p>
            <a:endParaRPr lang="en-US" dirty="0"/>
          </a:p>
          <a:p>
            <a:r>
              <a:rPr lang="en-US" dirty="0"/>
              <a:t>The goal of these plots are to look for potential patterns in the data</a:t>
            </a:r>
          </a:p>
        </p:txBody>
      </p:sp>
      <p:pic>
        <p:nvPicPr>
          <p:cNvPr id="5" name="Picture 4">
            <a:extLst>
              <a:ext uri="{FF2B5EF4-FFF2-40B4-BE49-F238E27FC236}">
                <a16:creationId xmlns:a16="http://schemas.microsoft.com/office/drawing/2014/main" id="{E488AB63-FD4C-B8CF-F3AC-8BA5E2B2988E}"/>
              </a:ext>
            </a:extLst>
          </p:cNvPr>
          <p:cNvPicPr>
            <a:picLocks noChangeAspect="1"/>
          </p:cNvPicPr>
          <p:nvPr/>
        </p:nvPicPr>
        <p:blipFill>
          <a:blip r:embed="rId2"/>
          <a:stretch>
            <a:fillRect/>
          </a:stretch>
        </p:blipFill>
        <p:spPr>
          <a:xfrm>
            <a:off x="593180" y="384048"/>
            <a:ext cx="5003201" cy="4590288"/>
          </a:xfrm>
          <a:prstGeom prst="rect">
            <a:avLst/>
          </a:prstGeom>
        </p:spPr>
      </p:pic>
    </p:spTree>
    <p:extLst>
      <p:ext uri="{BB962C8B-B14F-4D97-AF65-F5344CB8AC3E}">
        <p14:creationId xmlns:p14="http://schemas.microsoft.com/office/powerpoint/2010/main" val="2317071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F096AF-39B2-E9E6-4021-1B124C0CD231}"/>
              </a:ext>
            </a:extLst>
          </p:cNvPr>
          <p:cNvSpPr>
            <a:spLocks noGrp="1"/>
          </p:cNvSpPr>
          <p:nvPr>
            <p:ph type="title"/>
          </p:nvPr>
        </p:nvSpPr>
        <p:spPr>
          <a:xfrm>
            <a:off x="6769570" y="530578"/>
            <a:ext cx="4771178" cy="1160110"/>
          </a:xfrm>
        </p:spPr>
        <p:txBody>
          <a:bodyPr>
            <a:normAutofit/>
          </a:bodyPr>
          <a:lstStyle/>
          <a:p>
            <a:r>
              <a:rPr lang="en-US" dirty="0"/>
              <a:t>Animating the Data</a:t>
            </a:r>
          </a:p>
        </p:txBody>
      </p:sp>
      <p:pic>
        <p:nvPicPr>
          <p:cNvPr id="9" name="Content Placeholder 8" descr="A green football field with white lines and red dots&#10;&#10;AI-generated content may be incorrect.">
            <a:extLst>
              <a:ext uri="{FF2B5EF4-FFF2-40B4-BE49-F238E27FC236}">
                <a16:creationId xmlns:a16="http://schemas.microsoft.com/office/drawing/2014/main" id="{7410EC4D-4022-A0DD-77F1-059F00E6B1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6" y="1445793"/>
            <a:ext cx="6751093" cy="4050656"/>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18" name="Arc 17">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3" name="Content Placeholder 12">
            <a:extLst>
              <a:ext uri="{FF2B5EF4-FFF2-40B4-BE49-F238E27FC236}">
                <a16:creationId xmlns:a16="http://schemas.microsoft.com/office/drawing/2014/main" id="{17125145-BC35-00C0-D302-3D3FD31B7DA3}"/>
              </a:ext>
            </a:extLst>
          </p:cNvPr>
          <p:cNvSpPr>
            <a:spLocks noGrp="1"/>
          </p:cNvSpPr>
          <p:nvPr>
            <p:ph idx="1"/>
          </p:nvPr>
        </p:nvSpPr>
        <p:spPr>
          <a:xfrm>
            <a:off x="6769570" y="1825625"/>
            <a:ext cx="4771178" cy="4388908"/>
          </a:xfrm>
        </p:spPr>
        <p:txBody>
          <a:bodyPr>
            <a:normAutofit/>
          </a:bodyPr>
          <a:lstStyle/>
          <a:p>
            <a:r>
              <a:rPr lang="en-US" dirty="0"/>
              <a:t>Function </a:t>
            </a:r>
            <a:r>
              <a:rPr lang="en-US" dirty="0" err="1"/>
              <a:t>gganimate</a:t>
            </a:r>
            <a:r>
              <a:rPr lang="en-US" dirty="0"/>
              <a:t>() in R</a:t>
            </a:r>
          </a:p>
          <a:p>
            <a:endParaRPr lang="en-US" dirty="0"/>
          </a:p>
          <a:p>
            <a:r>
              <a:rPr lang="en-US" dirty="0"/>
              <a:t>Can slow or speed up based on the set frames/second</a:t>
            </a:r>
          </a:p>
          <a:p>
            <a:endParaRPr lang="en-US" dirty="0"/>
          </a:p>
          <a:p>
            <a:r>
              <a:rPr lang="en-US" dirty="0"/>
              <a:t>(X,Y) coordinates over time</a:t>
            </a:r>
          </a:p>
        </p:txBody>
      </p:sp>
    </p:spTree>
    <p:extLst>
      <p:ext uri="{BB962C8B-B14F-4D97-AF65-F5344CB8AC3E}">
        <p14:creationId xmlns:p14="http://schemas.microsoft.com/office/powerpoint/2010/main" val="3313687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B526F-1A3A-BC7C-CEC7-33FC1962E3D8}"/>
              </a:ext>
            </a:extLst>
          </p:cNvPr>
          <p:cNvSpPr>
            <a:spLocks noGrp="1"/>
          </p:cNvSpPr>
          <p:nvPr>
            <p:ph type="title"/>
          </p:nvPr>
        </p:nvSpPr>
        <p:spPr/>
        <p:txBody>
          <a:bodyPr/>
          <a:lstStyle/>
          <a:p>
            <a:r>
              <a:rPr lang="en-US" dirty="0"/>
              <a:t>Outcome Probabilities</a:t>
            </a:r>
          </a:p>
        </p:txBody>
      </p:sp>
      <p:pic>
        <p:nvPicPr>
          <p:cNvPr id="4" name="Content Placeholder 3">
            <a:extLst>
              <a:ext uri="{FF2B5EF4-FFF2-40B4-BE49-F238E27FC236}">
                <a16:creationId xmlns:a16="http://schemas.microsoft.com/office/drawing/2014/main" id="{B19A6A4E-E6A7-1F44-8872-CE536DD70D79}"/>
              </a:ext>
            </a:extLst>
          </p:cNvPr>
          <p:cNvPicPr>
            <a:picLocks noGrp="1" noChangeAspect="1"/>
          </p:cNvPicPr>
          <p:nvPr>
            <p:ph idx="1"/>
          </p:nvPr>
        </p:nvPicPr>
        <p:blipFill>
          <a:blip r:embed="rId2"/>
          <a:stretch>
            <a:fillRect/>
          </a:stretch>
        </p:blipFill>
        <p:spPr>
          <a:xfrm>
            <a:off x="838200" y="1464730"/>
            <a:ext cx="4174776" cy="2349072"/>
          </a:xfrm>
          <a:prstGeom prst="rect">
            <a:avLst/>
          </a:prstGeom>
        </p:spPr>
      </p:pic>
      <p:pic>
        <p:nvPicPr>
          <p:cNvPr id="5" name="Picture 4">
            <a:extLst>
              <a:ext uri="{FF2B5EF4-FFF2-40B4-BE49-F238E27FC236}">
                <a16:creationId xmlns:a16="http://schemas.microsoft.com/office/drawing/2014/main" id="{1E166FE9-CD22-AFCC-5B58-49D44D164381}"/>
              </a:ext>
            </a:extLst>
          </p:cNvPr>
          <p:cNvPicPr>
            <a:picLocks noChangeAspect="1"/>
          </p:cNvPicPr>
          <p:nvPr/>
        </p:nvPicPr>
        <p:blipFill>
          <a:blip r:embed="rId3"/>
          <a:stretch>
            <a:fillRect/>
          </a:stretch>
        </p:blipFill>
        <p:spPr>
          <a:xfrm>
            <a:off x="6330695" y="947738"/>
            <a:ext cx="4170617" cy="2349072"/>
          </a:xfrm>
          <a:prstGeom prst="rect">
            <a:avLst/>
          </a:prstGeom>
        </p:spPr>
      </p:pic>
      <p:pic>
        <p:nvPicPr>
          <p:cNvPr id="6" name="Picture 5">
            <a:extLst>
              <a:ext uri="{FF2B5EF4-FFF2-40B4-BE49-F238E27FC236}">
                <a16:creationId xmlns:a16="http://schemas.microsoft.com/office/drawing/2014/main" id="{660CD6BC-8638-E568-489A-F2F165A59C61}"/>
              </a:ext>
            </a:extLst>
          </p:cNvPr>
          <p:cNvPicPr>
            <a:picLocks noChangeAspect="1"/>
          </p:cNvPicPr>
          <p:nvPr/>
        </p:nvPicPr>
        <p:blipFill>
          <a:blip r:embed="rId4"/>
          <a:stretch>
            <a:fillRect/>
          </a:stretch>
        </p:blipFill>
        <p:spPr>
          <a:xfrm>
            <a:off x="5325626" y="3661891"/>
            <a:ext cx="5287736" cy="2972883"/>
          </a:xfrm>
          <a:prstGeom prst="rect">
            <a:avLst/>
          </a:prstGeom>
        </p:spPr>
      </p:pic>
    </p:spTree>
    <p:extLst>
      <p:ext uri="{BB962C8B-B14F-4D97-AF65-F5344CB8AC3E}">
        <p14:creationId xmlns:p14="http://schemas.microsoft.com/office/powerpoint/2010/main" val="1987144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B6BDB0-6210-D3AF-AABA-F40267C1D572}"/>
              </a:ext>
            </a:extLst>
          </p:cNvPr>
          <p:cNvSpPr>
            <a:spLocks noGrp="1"/>
          </p:cNvSpPr>
          <p:nvPr>
            <p:ph type="title"/>
          </p:nvPr>
        </p:nvSpPr>
        <p:spPr>
          <a:xfrm>
            <a:off x="5894962" y="479493"/>
            <a:ext cx="5458838" cy="1325563"/>
          </a:xfrm>
        </p:spPr>
        <p:txBody>
          <a:bodyPr>
            <a:normAutofit/>
          </a:bodyPr>
          <a:lstStyle/>
          <a:p>
            <a:r>
              <a:rPr lang="en-US" dirty="0"/>
              <a:t>Heat Maps</a:t>
            </a: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a:extLst>
              <a:ext uri="{FF2B5EF4-FFF2-40B4-BE49-F238E27FC236}">
                <a16:creationId xmlns:a16="http://schemas.microsoft.com/office/drawing/2014/main" id="{1ED225C4-F355-65DA-06F9-020F62AE8AB6}"/>
              </a:ext>
            </a:extLst>
          </p:cNvPr>
          <p:cNvPicPr>
            <a:picLocks noChangeAspect="1"/>
          </p:cNvPicPr>
          <p:nvPr/>
        </p:nvPicPr>
        <p:blipFill>
          <a:blip r:embed="rId2"/>
          <a:stretch>
            <a:fillRect/>
          </a:stretch>
        </p:blipFill>
        <p:spPr>
          <a:xfrm>
            <a:off x="1208433" y="1142274"/>
            <a:ext cx="3324558" cy="511470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pic>
        <p:nvPicPr>
          <p:cNvPr id="17" name="Picture 16">
            <a:extLst>
              <a:ext uri="{FF2B5EF4-FFF2-40B4-BE49-F238E27FC236}">
                <a16:creationId xmlns:a16="http://schemas.microsoft.com/office/drawing/2014/main" id="{767AA21A-F223-B0DD-2AF1-F6EB8947DDD7}"/>
              </a:ext>
            </a:extLst>
          </p:cNvPr>
          <p:cNvPicPr>
            <a:picLocks noChangeAspect="1"/>
          </p:cNvPicPr>
          <p:nvPr/>
        </p:nvPicPr>
        <p:blipFill>
          <a:blip r:embed="rId3"/>
          <a:stretch>
            <a:fillRect/>
          </a:stretch>
        </p:blipFill>
        <p:spPr>
          <a:xfrm>
            <a:off x="5894962" y="1563781"/>
            <a:ext cx="4096867" cy="841321"/>
          </a:xfrm>
          <a:prstGeom prst="rect">
            <a:avLst/>
          </a:prstGeom>
        </p:spPr>
      </p:pic>
      <mc:AlternateContent xmlns:mc="http://schemas.openxmlformats.org/markup-compatibility/2006">
        <mc:Choice xmlns:a14="http://schemas.microsoft.com/office/drawing/2010/main" Requires="a14">
          <p:sp>
            <p:nvSpPr>
              <p:cNvPr id="20" name="Content Placeholder 7">
                <a:extLst>
                  <a:ext uri="{FF2B5EF4-FFF2-40B4-BE49-F238E27FC236}">
                    <a16:creationId xmlns:a16="http://schemas.microsoft.com/office/drawing/2014/main" id="{B43CFB94-F61C-403B-5535-6E0FB47A5C9A}"/>
                  </a:ext>
                </a:extLst>
              </p:cNvPr>
              <p:cNvSpPr txBox="1">
                <a:spLocks/>
              </p:cNvSpPr>
              <p:nvPr/>
            </p:nvSpPr>
            <p:spPr>
              <a:xfrm>
                <a:off x="5614362" y="2606849"/>
                <a:ext cx="5458838" cy="35653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Kernel density estimation (KDE) are used to create heat maps</a:t>
                </a:r>
              </a:p>
              <a:p>
                <a:r>
                  <a:rPr lang="en-US" dirty="0"/>
                  <a:t>The above formula is the 2D Gaussian KDE</a:t>
                </a:r>
              </a:p>
              <a:p>
                <a:r>
                  <a:rPr lang="en-US" dirty="0"/>
                  <a:t>n: Sample size</a:t>
                </a:r>
              </a:p>
              <a:p>
                <a:r>
                  <a:rPr lang="en-US" dirty="0"/>
                  <a:t>h: bandwidth</a:t>
                </a:r>
              </a:p>
              <a:p>
                <a:pPr lvl="1"/>
                <a:r>
                  <a:rPr lang="en-US" dirty="0"/>
                  <a:t>Typically found using Cross-Validation or rule of thumb:1.06</a:t>
                </a:r>
                <a14:m>
                  <m:oMath xmlns:m="http://schemas.openxmlformats.org/officeDocument/2006/math">
                    <m:r>
                      <m:rPr>
                        <m:sty m:val="p"/>
                      </m:rPr>
                      <a:rPr lang="en-US" i="1" smtClean="0">
                        <a:latin typeface="Cambria Math" panose="02040503050406030204" pitchFamily="18" charset="0"/>
                      </a:rPr>
                      <m:t>σ</m:t>
                    </m:r>
                    <m:r>
                      <a:rPr lang="en-US" i="1" smtClean="0">
                        <a:latin typeface="Cambria Math" panose="02040503050406030204" pitchFamily="18" charset="0"/>
                      </a:rPr>
                      <m:t>̂</m:t>
                    </m:r>
                    <m:r>
                      <a:rPr lang="en-US" i="1" smtClean="0">
                        <a:latin typeface="Cambria Math" panose="02040503050406030204" pitchFamily="18" charset="0"/>
                      </a:rPr>
                      <m:t> </m:t>
                    </m:r>
                    <m:sSup>
                      <m:sSupPr>
                        <m:ctrlPr>
                          <a:rPr lang="en-US" i="1" smtClean="0">
                            <a:latin typeface="Cambria Math" panose="02040503050406030204" pitchFamily="18" charset="0"/>
                          </a:rPr>
                        </m:ctrlPr>
                      </m:sSupPr>
                      <m:e>
                        <m:r>
                          <m:rPr>
                            <m:sty m:val="p"/>
                          </m:rPr>
                          <a:rPr lang="en-US" i="1" smtClean="0">
                            <a:latin typeface="Cambria Math" panose="02040503050406030204" pitchFamily="18" charset="0"/>
                          </a:rPr>
                          <m:t>n</m:t>
                        </m:r>
                      </m:e>
                      <m:sup>
                        <m:r>
                          <a:rPr lang="en-US" i="1" smtClean="0">
                            <a:latin typeface="Cambria Math" panose="02040503050406030204" pitchFamily="18" charset="0"/>
                          </a:rPr>
                          <m:t>-</m:t>
                        </m:r>
                        <m:r>
                          <a:rPr lang="en-US" i="1" smtClean="0">
                            <a:latin typeface="Cambria Math" panose="02040503050406030204" pitchFamily="18" charset="0"/>
                          </a:rPr>
                          <m:t>1</m:t>
                        </m:r>
                        <m:r>
                          <a:rPr lang="en-US" i="1" smtClean="0">
                            <a:latin typeface="Cambria Math" panose="02040503050406030204" pitchFamily="18" charset="0"/>
                          </a:rPr>
                          <m:t>/</m:t>
                        </m:r>
                        <m:r>
                          <a:rPr lang="en-US" i="1" smtClean="0">
                            <a:latin typeface="Cambria Math" panose="02040503050406030204" pitchFamily="18" charset="0"/>
                          </a:rPr>
                          <m:t>5</m:t>
                        </m:r>
                      </m:sup>
                    </m:sSup>
                  </m:oMath>
                </a14:m>
                <a:endParaRPr lang="en-US" dirty="0"/>
              </a:p>
              <a:p>
                <a:r>
                  <a:rPr lang="en-US" dirty="0"/>
                  <a:t>K(): Kernel function</a:t>
                </a:r>
              </a:p>
              <a:p>
                <a:endParaRPr lang="en-US" dirty="0"/>
              </a:p>
            </p:txBody>
          </p:sp>
        </mc:Choice>
        <mc:Fallback>
          <p:sp>
            <p:nvSpPr>
              <p:cNvPr id="20" name="Content Placeholder 7">
                <a:extLst>
                  <a:ext uri="{FF2B5EF4-FFF2-40B4-BE49-F238E27FC236}">
                    <a16:creationId xmlns:a16="http://schemas.microsoft.com/office/drawing/2014/main" id="{B43CFB94-F61C-403B-5535-6E0FB47A5C9A}"/>
                  </a:ext>
                </a:extLst>
              </p:cNvPr>
              <p:cNvSpPr txBox="1">
                <a:spLocks noRot="1" noChangeAspect="1" noMove="1" noResize="1" noEditPoints="1" noAdjustHandles="1" noChangeArrowheads="1" noChangeShapeType="1" noTextEdit="1"/>
              </p:cNvSpPr>
              <p:nvPr/>
            </p:nvSpPr>
            <p:spPr>
              <a:xfrm>
                <a:off x="5614362" y="2606849"/>
                <a:ext cx="5458838" cy="3565351"/>
              </a:xfrm>
              <a:prstGeom prst="rect">
                <a:avLst/>
              </a:prstGeom>
              <a:blipFill>
                <a:blip r:embed="rId4"/>
                <a:stretch>
                  <a:fillRect l="-1564" t="-2393" b="-2735"/>
                </a:stretch>
              </a:blipFill>
            </p:spPr>
            <p:txBody>
              <a:bodyPr/>
              <a:lstStyle/>
              <a:p>
                <a:r>
                  <a:rPr lang="en-US">
                    <a:noFill/>
                  </a:rPr>
                  <a:t> </a:t>
                </a:r>
              </a:p>
            </p:txBody>
          </p:sp>
        </mc:Fallback>
      </mc:AlternateContent>
      <p:pic>
        <p:nvPicPr>
          <p:cNvPr id="26" name="Picture 25">
            <a:extLst>
              <a:ext uri="{FF2B5EF4-FFF2-40B4-BE49-F238E27FC236}">
                <a16:creationId xmlns:a16="http://schemas.microsoft.com/office/drawing/2014/main" id="{3FF8B8AC-72CA-D607-79E2-E87AE89AD6B8}"/>
              </a:ext>
            </a:extLst>
          </p:cNvPr>
          <p:cNvPicPr>
            <a:picLocks noChangeAspect="1"/>
          </p:cNvPicPr>
          <p:nvPr/>
        </p:nvPicPr>
        <p:blipFill>
          <a:blip r:embed="rId5"/>
          <a:stretch>
            <a:fillRect/>
          </a:stretch>
        </p:blipFill>
        <p:spPr>
          <a:xfrm>
            <a:off x="508187" y="376210"/>
            <a:ext cx="4092295" cy="609653"/>
          </a:xfrm>
          <a:prstGeom prst="rect">
            <a:avLst/>
          </a:prstGeom>
        </p:spPr>
      </p:pic>
    </p:spTree>
    <p:extLst>
      <p:ext uri="{BB962C8B-B14F-4D97-AF65-F5344CB8AC3E}">
        <p14:creationId xmlns:p14="http://schemas.microsoft.com/office/powerpoint/2010/main" val="1568790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1CF65FC-4996-A925-3BC4-DCC56A2AE775}"/>
              </a:ext>
            </a:extLst>
          </p:cNvPr>
          <p:cNvSpPr>
            <a:spLocks noGrp="1"/>
          </p:cNvSpPr>
          <p:nvPr>
            <p:ph type="title"/>
          </p:nvPr>
        </p:nvSpPr>
        <p:spPr>
          <a:xfrm>
            <a:off x="5894962" y="479493"/>
            <a:ext cx="5458838" cy="1325563"/>
          </a:xfrm>
        </p:spPr>
        <p:txBody>
          <a:bodyPr>
            <a:normAutofit/>
          </a:bodyPr>
          <a:lstStyle/>
          <a:p>
            <a:r>
              <a:rPr lang="en-US" dirty="0"/>
              <a:t>Voronoi Tessellation (Spatial Ownership)</a:t>
            </a: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diagram of a football field&#10;&#10;AI-generated content may be incorrect.">
            <a:extLst>
              <a:ext uri="{FF2B5EF4-FFF2-40B4-BE49-F238E27FC236}">
                <a16:creationId xmlns:a16="http://schemas.microsoft.com/office/drawing/2014/main" id="{BA205C41-FCD7-B92D-4053-3D017DAE8ACA}"/>
              </a:ext>
            </a:extLst>
          </p:cNvPr>
          <p:cNvPicPr>
            <a:picLocks noChangeAspect="1"/>
          </p:cNvPicPr>
          <p:nvPr/>
        </p:nvPicPr>
        <p:blipFill>
          <a:blip r:embed="rId2"/>
          <a:stretch>
            <a:fillRect/>
          </a:stretch>
        </p:blipFill>
        <p:spPr>
          <a:xfrm>
            <a:off x="703182" y="1373458"/>
            <a:ext cx="4777381" cy="394133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8" name="Content Placeholder 7">
            <a:extLst>
              <a:ext uri="{FF2B5EF4-FFF2-40B4-BE49-F238E27FC236}">
                <a16:creationId xmlns:a16="http://schemas.microsoft.com/office/drawing/2014/main" id="{A875806E-34A2-D0DA-E5BE-07BADB521A3D}"/>
              </a:ext>
            </a:extLst>
          </p:cNvPr>
          <p:cNvSpPr>
            <a:spLocks noGrp="1"/>
          </p:cNvSpPr>
          <p:nvPr>
            <p:ph idx="1"/>
          </p:nvPr>
        </p:nvSpPr>
        <p:spPr>
          <a:xfrm>
            <a:off x="5894962" y="1984443"/>
            <a:ext cx="5458838" cy="4192520"/>
          </a:xfrm>
        </p:spPr>
        <p:txBody>
          <a:bodyPr>
            <a:normAutofit lnSpcReduction="10000"/>
          </a:bodyPr>
          <a:lstStyle/>
          <a:p>
            <a:r>
              <a:rPr lang="en-US" dirty="0"/>
              <a:t>“In a team setting, Voronoi tessellation is the process of assigning each point in the competitive space at a given moment in time to one player according to the player with the minimum Euclidean distance from the point of interest (</a:t>
            </a:r>
            <a:r>
              <a:rPr lang="en-US" b="1" u="sng" dirty="0">
                <a:hlinkClick r:id="rId3"/>
              </a:rPr>
              <a:t>Phillips 2014</a:t>
            </a:r>
            <a:r>
              <a:rPr lang="en-US" dirty="0"/>
              <a:t>).” </a:t>
            </a:r>
          </a:p>
          <a:p>
            <a:r>
              <a:rPr lang="en-US" dirty="0"/>
              <a:t>Limitations:</a:t>
            </a:r>
          </a:p>
          <a:p>
            <a:pPr lvl="1"/>
            <a:r>
              <a:rPr lang="en-US" dirty="0"/>
              <a:t>Focuses only on distance, failing to consider other elements that go into player movement</a:t>
            </a:r>
          </a:p>
          <a:p>
            <a:endParaRPr lang="en-US" dirty="0"/>
          </a:p>
        </p:txBody>
      </p:sp>
    </p:spTree>
    <p:extLst>
      <p:ext uri="{BB962C8B-B14F-4D97-AF65-F5344CB8AC3E}">
        <p14:creationId xmlns:p14="http://schemas.microsoft.com/office/powerpoint/2010/main" val="809574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109EE-E5BE-25B4-DCD5-F9367F59D38A}"/>
              </a:ext>
            </a:extLst>
          </p:cNvPr>
          <p:cNvSpPr>
            <a:spLocks noGrp="1"/>
          </p:cNvSpPr>
          <p:nvPr>
            <p:ph type="title"/>
          </p:nvPr>
        </p:nvSpPr>
        <p:spPr/>
        <p:txBody>
          <a:bodyPr/>
          <a:lstStyle/>
          <a:p>
            <a:r>
              <a:rPr lang="en-US" dirty="0"/>
              <a:t>Ripley’s K-function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4DE0E56-18B0-E88E-9704-5ECA83C8D407}"/>
                  </a:ext>
                </a:extLst>
              </p:cNvPr>
              <p:cNvSpPr>
                <a:spLocks noGrp="1"/>
              </p:cNvSpPr>
              <p:nvPr>
                <p:ph idx="1"/>
              </p:nvPr>
            </p:nvSpPr>
            <p:spPr>
              <a:xfrm>
                <a:off x="838200" y="1690688"/>
                <a:ext cx="5642987" cy="4297680"/>
              </a:xfrm>
            </p:spPr>
            <p:txBody>
              <a:bodyPr>
                <a:normAutofit fontScale="92500" lnSpcReduction="10000"/>
              </a:bodyPr>
              <a:lstStyle/>
              <a:p>
                <a:r>
                  <a:rPr lang="en-US" dirty="0"/>
                  <a:t>Helps determine whether points are clustered, random, or regular</a:t>
                </a:r>
              </a:p>
              <a:p>
                <a14:m>
                  <m:oMath xmlns:m="http://schemas.openxmlformats.org/officeDocument/2006/math">
                    <m:sSup>
                      <m:sSupPr>
                        <m:ctrlPr>
                          <a:rPr lang="en-US" b="0" i="1" smtClean="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𝜆</m:t>
                            </m:r>
                          </m:e>
                        </m:acc>
                      </m:e>
                      <m:sup>
                        <m:r>
                          <a:rPr lang="en-US" b="0" i="1" smtClean="0">
                            <a:latin typeface="Cambria Math" panose="02040503050406030204" pitchFamily="18" charset="0"/>
                          </a:rPr>
                          <m:t>-1</m:t>
                        </m:r>
                      </m:sup>
                    </m:sSup>
                  </m:oMath>
                </a14:m>
                <a:r>
                  <a:rPr lang="en-US" dirty="0"/>
                  <a:t>: density (</a:t>
                </a:r>
                <a14:m>
                  <m:oMath xmlns:m="http://schemas.openxmlformats.org/officeDocument/2006/math">
                    <m:f>
                      <m:fPr>
                        <m:ctrlPr>
                          <a:rPr lang="en-US" i="1" smtClean="0">
                            <a:latin typeface="Cambria Math" panose="02040503050406030204" pitchFamily="18" charset="0"/>
                          </a:rPr>
                        </m:ctrlPr>
                      </m:fPr>
                      <m:num>
                        <m:r>
                          <m:rPr>
                            <m:sty m:val="p"/>
                          </m:rPr>
                          <a:rPr lang="en-US" b="0" i="1" smtClean="0">
                            <a:latin typeface="Cambria Math" panose="02040503050406030204" pitchFamily="18" charset="0"/>
                          </a:rPr>
                          <m:t>N</m:t>
                        </m:r>
                      </m:num>
                      <m:den>
                        <m:r>
                          <m:rPr>
                            <m:sty m:val="p"/>
                          </m:rPr>
                          <a:rPr lang="en-US" b="0" i="1" smtClean="0">
                            <a:latin typeface="Cambria Math" panose="02040503050406030204" pitchFamily="18" charset="0"/>
                          </a:rPr>
                          <m:t>A</m:t>
                        </m:r>
                      </m:den>
                    </m:f>
                  </m:oMath>
                </a14:m>
                <a:r>
                  <a:rPr lang="en-US" dirty="0"/>
                  <a:t>, where N is the number of observed points and A is the area of the region)</a:t>
                </a:r>
              </a:p>
              <a:p>
                <a14:m>
                  <m:oMath xmlns:m="http://schemas.openxmlformats.org/officeDocument/2006/math">
                    <m:r>
                      <m:rPr>
                        <m:sty m:val="p"/>
                      </m:rPr>
                      <a:rPr lang="en-US" b="0" i="1" smtClean="0">
                        <a:latin typeface="Cambria Math" panose="02040503050406030204" pitchFamily="18" charset="0"/>
                      </a:rPr>
                      <m:t>w</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m:t>
                        </m:r>
                      </m:e>
                      <m:sub>
                        <m:r>
                          <m:rPr>
                            <m:sty m:val="p"/>
                          </m:rPr>
                          <a:rPr lang="en-US" b="0" i="1" smtClean="0">
                            <a:latin typeface="Cambria Math" panose="02040503050406030204" pitchFamily="18" charset="0"/>
                          </a:rPr>
                          <m:t>i</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m:rPr>
                            <m:sty m:val="p"/>
                          </m:rPr>
                          <a:rPr lang="en-US" b="0" i="1" smtClean="0">
                            <a:latin typeface="Cambria Math" panose="02040503050406030204" pitchFamily="18" charset="0"/>
                          </a:rPr>
                          <m:t>j</m:t>
                        </m:r>
                      </m:sub>
                    </m:sSub>
                    <m:r>
                      <a:rPr lang="en-US" b="0" i="1" smtClean="0">
                        <a:latin typeface="Cambria Math" panose="02040503050406030204" pitchFamily="18" charset="0"/>
                      </a:rPr>
                      <m:t>)</m:t>
                    </m:r>
                  </m:oMath>
                </a14:m>
                <a:r>
                  <a:rPr lang="en-US" dirty="0"/>
                  <a:t>: edge-correction factor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l</m:t>
                        </m:r>
                      </m:e>
                      <m:sub>
                        <m:r>
                          <m:rPr>
                            <m:sty m:val="p"/>
                          </m:rPr>
                          <a:rPr lang="en-US" i="1">
                            <a:latin typeface="Cambria Math" panose="02040503050406030204" pitchFamily="18" charset="0"/>
                          </a:rPr>
                          <m:t>i</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m:rPr>
                            <m:sty m:val="p"/>
                          </m:rPr>
                          <a:rPr lang="en-US" i="1">
                            <a:latin typeface="Cambria Math" panose="02040503050406030204" pitchFamily="18" charset="0"/>
                          </a:rPr>
                          <m:t>j</m:t>
                        </m:r>
                      </m:sub>
                    </m:sSub>
                  </m:oMath>
                </a14:m>
                <a:r>
                  <a:rPr lang="en-US" dirty="0"/>
                  <a:t> are the actual coordinates)</a:t>
                </a:r>
              </a:p>
              <a:p>
                <a:r>
                  <a:rPr lang="en-US" dirty="0"/>
                  <a:t>t: distance at which clustering/dispersion is being evaluated</a:t>
                </a:r>
              </a:p>
              <a:p>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d</m:t>
                        </m:r>
                      </m:e>
                      <m:sub>
                        <m:r>
                          <m:rPr>
                            <m:sty m:val="p"/>
                          </m:rPr>
                          <a:rPr lang="en-US" b="0" i="1" smtClean="0">
                            <a:latin typeface="Cambria Math" panose="02040503050406030204" pitchFamily="18" charset="0"/>
                          </a:rPr>
                          <m:t>ij</m:t>
                        </m:r>
                      </m:sub>
                    </m:sSub>
                  </m:oMath>
                </a14:m>
                <a:r>
                  <a:rPr lang="en-US" dirty="0"/>
                  <a:t>: Euclidean distance between point </a:t>
                </a:r>
                <a:r>
                  <a:rPr lang="en-US" i="1" dirty="0" err="1"/>
                  <a:t>i</a:t>
                </a:r>
                <a:r>
                  <a:rPr lang="en-US" i="1" dirty="0"/>
                  <a:t> </a:t>
                </a:r>
                <a:r>
                  <a:rPr lang="en-US" dirty="0"/>
                  <a:t>and point </a:t>
                </a:r>
                <a:r>
                  <a:rPr lang="en-US" i="1" dirty="0"/>
                  <a:t>j</a:t>
                </a:r>
              </a:p>
              <a:p>
                <a:endParaRPr lang="en-US" dirty="0"/>
              </a:p>
            </p:txBody>
          </p:sp>
        </mc:Choice>
        <mc:Fallback>
          <p:sp>
            <p:nvSpPr>
              <p:cNvPr id="3" name="Content Placeholder 2">
                <a:extLst>
                  <a:ext uri="{FF2B5EF4-FFF2-40B4-BE49-F238E27FC236}">
                    <a16:creationId xmlns:a16="http://schemas.microsoft.com/office/drawing/2014/main" id="{44DE0E56-18B0-E88E-9704-5ECA83C8D407}"/>
                  </a:ext>
                </a:extLst>
              </p:cNvPr>
              <p:cNvSpPr>
                <a:spLocks noGrp="1" noRot="1" noChangeAspect="1" noMove="1" noResize="1" noEditPoints="1" noAdjustHandles="1" noChangeArrowheads="1" noChangeShapeType="1" noTextEdit="1"/>
              </p:cNvSpPr>
              <p:nvPr>
                <p:ph idx="1"/>
              </p:nvPr>
            </p:nvSpPr>
            <p:spPr>
              <a:xfrm>
                <a:off x="838200" y="1690688"/>
                <a:ext cx="5642987" cy="4297680"/>
              </a:xfrm>
              <a:blipFill>
                <a:blip r:embed="rId2"/>
                <a:stretch>
                  <a:fillRect l="-1297" t="-2411" r="-97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22E1D71-5AEF-94F2-8285-5F26B49C75F3}"/>
              </a:ext>
            </a:extLst>
          </p:cNvPr>
          <p:cNvPicPr>
            <a:picLocks noChangeAspect="1"/>
          </p:cNvPicPr>
          <p:nvPr/>
        </p:nvPicPr>
        <p:blipFill>
          <a:blip r:embed="rId3"/>
          <a:stretch>
            <a:fillRect/>
          </a:stretch>
        </p:blipFill>
        <p:spPr>
          <a:xfrm>
            <a:off x="4760711" y="734695"/>
            <a:ext cx="1961637" cy="682308"/>
          </a:xfrm>
          <a:prstGeom prst="rect">
            <a:avLst/>
          </a:prstGeom>
        </p:spPr>
      </p:pic>
      <p:pic>
        <p:nvPicPr>
          <p:cNvPr id="7" name="Picture 6">
            <a:extLst>
              <a:ext uri="{FF2B5EF4-FFF2-40B4-BE49-F238E27FC236}">
                <a16:creationId xmlns:a16="http://schemas.microsoft.com/office/drawing/2014/main" id="{CDC7449E-E9A1-DBFB-6387-3F59D7167344}"/>
              </a:ext>
            </a:extLst>
          </p:cNvPr>
          <p:cNvPicPr>
            <a:picLocks noChangeAspect="1"/>
          </p:cNvPicPr>
          <p:nvPr/>
        </p:nvPicPr>
        <p:blipFill>
          <a:blip r:embed="rId4"/>
          <a:srcRect l="5214" r="2132"/>
          <a:stretch>
            <a:fillRect/>
          </a:stretch>
        </p:blipFill>
        <p:spPr>
          <a:xfrm>
            <a:off x="6883121" y="652047"/>
            <a:ext cx="5178251" cy="1106109"/>
          </a:xfrm>
          <a:prstGeom prst="rect">
            <a:avLst/>
          </a:prstGeom>
        </p:spPr>
      </p:pic>
      <p:pic>
        <p:nvPicPr>
          <p:cNvPr id="8" name="Picture 7">
            <a:extLst>
              <a:ext uri="{FF2B5EF4-FFF2-40B4-BE49-F238E27FC236}">
                <a16:creationId xmlns:a16="http://schemas.microsoft.com/office/drawing/2014/main" id="{CE291A7D-A892-3651-3779-88C714578646}"/>
              </a:ext>
            </a:extLst>
          </p:cNvPr>
          <p:cNvPicPr>
            <a:picLocks noChangeAspect="1"/>
          </p:cNvPicPr>
          <p:nvPr/>
        </p:nvPicPr>
        <p:blipFill>
          <a:blip r:embed="rId5"/>
          <a:stretch>
            <a:fillRect/>
          </a:stretch>
        </p:blipFill>
        <p:spPr>
          <a:xfrm>
            <a:off x="6722348" y="2304288"/>
            <a:ext cx="5234672" cy="2789773"/>
          </a:xfrm>
          <a:prstGeom prst="rect">
            <a:avLst/>
          </a:prstGeom>
        </p:spPr>
      </p:pic>
    </p:spTree>
    <p:extLst>
      <p:ext uri="{BB962C8B-B14F-4D97-AF65-F5344CB8AC3E}">
        <p14:creationId xmlns:p14="http://schemas.microsoft.com/office/powerpoint/2010/main" val="2527821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22D783AF-85F9-AADE-6816-BD488112F1B1}"/>
              </a:ext>
            </a:extLst>
          </p:cNvPr>
          <p:cNvPicPr>
            <a:picLocks noChangeAspect="1"/>
          </p:cNvPicPr>
          <p:nvPr/>
        </p:nvPicPr>
        <p:blipFill>
          <a:blip r:embed="rId2"/>
          <a:stretch>
            <a:fillRect/>
          </a:stretch>
        </p:blipFill>
        <p:spPr>
          <a:xfrm>
            <a:off x="6541053" y="1049503"/>
            <a:ext cx="4777381" cy="458628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6" name="Arc 15">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602EAF-EC31-5793-83D3-6F436A9C023A}"/>
              </a:ext>
            </a:extLst>
          </p:cNvPr>
          <p:cNvSpPr>
            <a:spLocks noGrp="1"/>
          </p:cNvSpPr>
          <p:nvPr>
            <p:ph type="title"/>
          </p:nvPr>
        </p:nvSpPr>
        <p:spPr>
          <a:xfrm>
            <a:off x="838201" y="479493"/>
            <a:ext cx="5257800" cy="1325563"/>
          </a:xfrm>
        </p:spPr>
        <p:txBody>
          <a:bodyPr>
            <a:normAutofit/>
          </a:bodyPr>
          <a:lstStyle/>
          <a:p>
            <a:r>
              <a:rPr lang="en-US" dirty="0"/>
              <a:t>Moran’s I</a:t>
            </a:r>
          </a:p>
        </p:txBody>
      </p:sp>
      <p:sp>
        <p:nvSpPr>
          <p:cNvPr id="3" name="Content Placeholder 2">
            <a:extLst>
              <a:ext uri="{FF2B5EF4-FFF2-40B4-BE49-F238E27FC236}">
                <a16:creationId xmlns:a16="http://schemas.microsoft.com/office/drawing/2014/main" id="{3D310348-7821-3896-8F4D-849F8A13605D}"/>
              </a:ext>
            </a:extLst>
          </p:cNvPr>
          <p:cNvSpPr>
            <a:spLocks noGrp="1"/>
          </p:cNvSpPr>
          <p:nvPr>
            <p:ph idx="1"/>
          </p:nvPr>
        </p:nvSpPr>
        <p:spPr>
          <a:xfrm>
            <a:off x="838201" y="2707361"/>
            <a:ext cx="5257800" cy="3469601"/>
          </a:xfrm>
        </p:spPr>
        <p:txBody>
          <a:bodyPr>
            <a:normAutofit/>
          </a:bodyPr>
          <a:lstStyle/>
          <a:p>
            <a:r>
              <a:rPr lang="en-US" dirty="0"/>
              <a:t>Spatial autocorrelation: quantifies the degree to which a variable is similar across nearby spatial locations</a:t>
            </a:r>
          </a:p>
          <a:p>
            <a:r>
              <a:rPr lang="en-US" dirty="0"/>
              <a:t>Similar to Ripley’s K-function (can detect clustering or dispersion)</a:t>
            </a:r>
          </a:p>
          <a:p>
            <a:endParaRPr lang="en-US" dirty="0"/>
          </a:p>
        </p:txBody>
      </p:sp>
      <p:pic>
        <p:nvPicPr>
          <p:cNvPr id="8" name="Picture 7">
            <a:extLst>
              <a:ext uri="{FF2B5EF4-FFF2-40B4-BE49-F238E27FC236}">
                <a16:creationId xmlns:a16="http://schemas.microsoft.com/office/drawing/2014/main" id="{E9DBB93E-699C-27E4-5751-32A1882DE6AB}"/>
              </a:ext>
            </a:extLst>
          </p:cNvPr>
          <p:cNvPicPr>
            <a:picLocks noChangeAspect="1"/>
          </p:cNvPicPr>
          <p:nvPr/>
        </p:nvPicPr>
        <p:blipFill>
          <a:blip r:embed="rId3"/>
          <a:stretch>
            <a:fillRect/>
          </a:stretch>
        </p:blipFill>
        <p:spPr>
          <a:xfrm>
            <a:off x="558289" y="1701435"/>
            <a:ext cx="6340390" cy="1005927"/>
          </a:xfrm>
          <a:prstGeom prst="rect">
            <a:avLst/>
          </a:prstGeom>
        </p:spPr>
      </p:pic>
    </p:spTree>
    <p:extLst>
      <p:ext uri="{BB962C8B-B14F-4D97-AF65-F5344CB8AC3E}">
        <p14:creationId xmlns:p14="http://schemas.microsoft.com/office/powerpoint/2010/main" val="1589515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Arc 2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0AD97CC-2BC9-D9BF-8DAA-5EBAF6E7786F}"/>
              </a:ext>
            </a:extLst>
          </p:cNvPr>
          <p:cNvSpPr>
            <a:spLocks noGrp="1"/>
          </p:cNvSpPr>
          <p:nvPr>
            <p:ph type="title"/>
          </p:nvPr>
        </p:nvSpPr>
        <p:spPr>
          <a:xfrm>
            <a:off x="5894962" y="479493"/>
            <a:ext cx="5458838" cy="1325563"/>
          </a:xfrm>
        </p:spPr>
        <p:txBody>
          <a:bodyPr>
            <a:normAutofit/>
          </a:bodyPr>
          <a:lstStyle/>
          <a:p>
            <a:r>
              <a:rPr lang="en-US" dirty="0"/>
              <a:t>Spatial point process models</a:t>
            </a:r>
          </a:p>
        </p:txBody>
      </p:sp>
      <p:sp>
        <p:nvSpPr>
          <p:cNvPr id="25" name="Freeform: Shape 2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78364938-0313-784F-568E-8B53A1ED333A}"/>
              </a:ext>
            </a:extLst>
          </p:cNvPr>
          <p:cNvPicPr>
            <a:picLocks noChangeAspect="1"/>
          </p:cNvPicPr>
          <p:nvPr/>
        </p:nvPicPr>
        <p:blipFill>
          <a:blip r:embed="rId2"/>
          <a:stretch>
            <a:fillRect/>
          </a:stretch>
        </p:blipFill>
        <p:spPr>
          <a:xfrm>
            <a:off x="206329" y="1805056"/>
            <a:ext cx="5482304" cy="272744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9" name="Content Placeholder 8">
            <a:extLst>
              <a:ext uri="{FF2B5EF4-FFF2-40B4-BE49-F238E27FC236}">
                <a16:creationId xmlns:a16="http://schemas.microsoft.com/office/drawing/2014/main" id="{1461E4F8-9F9F-E91A-9BA7-4BBBA0A9B7F3}"/>
              </a:ext>
            </a:extLst>
          </p:cNvPr>
          <p:cNvSpPr>
            <a:spLocks noGrp="1"/>
          </p:cNvSpPr>
          <p:nvPr>
            <p:ph idx="1"/>
          </p:nvPr>
        </p:nvSpPr>
        <p:spPr>
          <a:xfrm>
            <a:off x="5894962" y="1984443"/>
            <a:ext cx="5458838" cy="4192520"/>
          </a:xfrm>
        </p:spPr>
        <p:txBody>
          <a:bodyPr>
            <a:normAutofit lnSpcReduction="10000"/>
          </a:bodyPr>
          <a:lstStyle/>
          <a:p>
            <a:r>
              <a:rPr lang="en-US" dirty="0"/>
              <a:t>Used to analyze the location and pattern of events</a:t>
            </a:r>
          </a:p>
          <a:p>
            <a:r>
              <a:rPr lang="en-US" dirty="0"/>
              <a:t>Formula is calculating the expected number of events per unit area at location x</a:t>
            </a:r>
          </a:p>
          <a:p>
            <a:r>
              <a:rPr lang="en-US" dirty="0"/>
              <a:t>In other words, the “intensity” of events at a given location</a:t>
            </a:r>
          </a:p>
          <a:p>
            <a:r>
              <a:rPr lang="en-US" dirty="0"/>
              <a:t>Higher value means more events are expected</a:t>
            </a:r>
          </a:p>
          <a:p>
            <a:r>
              <a:rPr lang="en-US" dirty="0"/>
              <a:t>Homogeneous and Inhomogeneous Poisson Processes are common processes</a:t>
            </a:r>
          </a:p>
        </p:txBody>
      </p:sp>
    </p:spTree>
    <p:extLst>
      <p:ext uri="{BB962C8B-B14F-4D97-AF65-F5344CB8AC3E}">
        <p14:creationId xmlns:p14="http://schemas.microsoft.com/office/powerpoint/2010/main" val="610942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DD61F-CBB7-DDFC-9AE0-755F7EBAFF19}"/>
              </a:ext>
            </a:extLst>
          </p:cNvPr>
          <p:cNvSpPr>
            <a:spLocks noGrp="1"/>
          </p:cNvSpPr>
          <p:nvPr>
            <p:ph type="title"/>
          </p:nvPr>
        </p:nvSpPr>
        <p:spPr>
          <a:xfrm>
            <a:off x="249936" y="118237"/>
            <a:ext cx="10515600" cy="1325563"/>
          </a:xfrm>
        </p:spPr>
        <p:txBody>
          <a:bodyPr/>
          <a:lstStyle/>
          <a:p>
            <a:r>
              <a:rPr lang="en-US" dirty="0"/>
              <a:t>Comparing Methods and Limitations</a:t>
            </a:r>
          </a:p>
        </p:txBody>
      </p:sp>
      <p:graphicFrame>
        <p:nvGraphicFramePr>
          <p:cNvPr id="4" name="Content Placeholder 3">
            <a:extLst>
              <a:ext uri="{FF2B5EF4-FFF2-40B4-BE49-F238E27FC236}">
                <a16:creationId xmlns:a16="http://schemas.microsoft.com/office/drawing/2014/main" id="{DB1625CD-88A2-6455-8470-DE0D2902152D}"/>
              </a:ext>
            </a:extLst>
          </p:cNvPr>
          <p:cNvGraphicFramePr>
            <a:graphicFrameLocks noGrp="1"/>
          </p:cNvGraphicFramePr>
          <p:nvPr>
            <p:ph idx="1"/>
            <p:extLst>
              <p:ext uri="{D42A27DB-BD31-4B8C-83A1-F6EECF244321}">
                <p14:modId xmlns:p14="http://schemas.microsoft.com/office/powerpoint/2010/main" val="4165851179"/>
              </p:ext>
            </p:extLst>
          </p:nvPr>
        </p:nvGraphicFramePr>
        <p:xfrm>
          <a:off x="182880" y="1161923"/>
          <a:ext cx="11759184" cy="5577840"/>
        </p:xfrm>
        <a:graphic>
          <a:graphicData uri="http://schemas.openxmlformats.org/drawingml/2006/table">
            <a:tbl>
              <a:tblPr firstRow="1" bandRow="1">
                <a:tableStyleId>{5C22544A-7EE6-4342-B048-85BDC9FD1C3A}</a:tableStyleId>
              </a:tblPr>
              <a:tblGrid>
                <a:gridCol w="1418255">
                  <a:extLst>
                    <a:ext uri="{9D8B030D-6E8A-4147-A177-3AD203B41FA5}">
                      <a16:colId xmlns:a16="http://schemas.microsoft.com/office/drawing/2014/main" val="2613534287"/>
                    </a:ext>
                  </a:extLst>
                </a:gridCol>
                <a:gridCol w="2145882">
                  <a:extLst>
                    <a:ext uri="{9D8B030D-6E8A-4147-A177-3AD203B41FA5}">
                      <a16:colId xmlns:a16="http://schemas.microsoft.com/office/drawing/2014/main" val="287763062"/>
                    </a:ext>
                  </a:extLst>
                </a:gridCol>
                <a:gridCol w="2580608">
                  <a:extLst>
                    <a:ext uri="{9D8B030D-6E8A-4147-A177-3AD203B41FA5}">
                      <a16:colId xmlns:a16="http://schemas.microsoft.com/office/drawing/2014/main" val="1139734923"/>
                    </a:ext>
                  </a:extLst>
                </a:gridCol>
                <a:gridCol w="5614439">
                  <a:extLst>
                    <a:ext uri="{9D8B030D-6E8A-4147-A177-3AD203B41FA5}">
                      <a16:colId xmlns:a16="http://schemas.microsoft.com/office/drawing/2014/main" val="103691059"/>
                    </a:ext>
                  </a:extLst>
                </a:gridCol>
              </a:tblGrid>
              <a:tr h="354967">
                <a:tc>
                  <a:txBody>
                    <a:bodyPr/>
                    <a:lstStyle/>
                    <a:p>
                      <a:r>
                        <a:rPr lang="en-US" dirty="0"/>
                        <a:t>Method</a:t>
                      </a:r>
                    </a:p>
                  </a:txBody>
                  <a:tcPr/>
                </a:tc>
                <a:tc>
                  <a:txBody>
                    <a:bodyPr/>
                    <a:lstStyle/>
                    <a:p>
                      <a:r>
                        <a:rPr lang="en-US" dirty="0"/>
                        <a:t>Best Used When</a:t>
                      </a:r>
                    </a:p>
                  </a:txBody>
                  <a:tcPr/>
                </a:tc>
                <a:tc>
                  <a:txBody>
                    <a:bodyPr/>
                    <a:lstStyle/>
                    <a:p>
                      <a:r>
                        <a:rPr lang="en-US" dirty="0"/>
                        <a:t>Purpose</a:t>
                      </a:r>
                    </a:p>
                  </a:txBody>
                  <a:tcPr/>
                </a:tc>
                <a:tc>
                  <a:txBody>
                    <a:bodyPr/>
                    <a:lstStyle/>
                    <a:p>
                      <a:r>
                        <a:rPr lang="en-US" dirty="0"/>
                        <a:t>Limitations</a:t>
                      </a:r>
                    </a:p>
                  </a:txBody>
                  <a:tcPr/>
                </a:tc>
                <a:extLst>
                  <a:ext uri="{0D108BD9-81ED-4DB2-BD59-A6C34878D82A}">
                    <a16:rowId xmlns:a16="http://schemas.microsoft.com/office/drawing/2014/main" val="2381391254"/>
                  </a:ext>
                </a:extLst>
              </a:tr>
              <a:tr h="1686094">
                <a:tc>
                  <a:txBody>
                    <a:bodyPr/>
                    <a:lstStyle/>
                    <a:p>
                      <a:r>
                        <a:rPr lang="en-US" dirty="0"/>
                        <a:t>Ripley’s K Function</a:t>
                      </a:r>
                    </a:p>
                  </a:txBody>
                  <a:tcPr/>
                </a:tc>
                <a:tc>
                  <a:txBody>
                    <a:bodyPr/>
                    <a:lstStyle/>
                    <a:p>
                      <a:r>
                        <a:rPr lang="en-US" dirty="0"/>
                        <a:t>Testing if point locations are random, clustered, or regular</a:t>
                      </a:r>
                    </a:p>
                  </a:txBody>
                  <a:tcPr/>
                </a:tc>
                <a:tc>
                  <a:txBody>
                    <a:bodyPr/>
                    <a:lstStyle/>
                    <a:p>
                      <a:r>
                        <a:rPr lang="en-US" dirty="0"/>
                        <a:t>Detecting spatial clustering or dispersion at multiple distance scales</a:t>
                      </a:r>
                    </a:p>
                  </a:txBody>
                  <a:tcPr/>
                </a:tc>
                <a:tc>
                  <a:txBody>
                    <a:bodyPr/>
                    <a:lstStyle/>
                    <a:p>
                      <a:r>
                        <a:rPr lang="en-US" dirty="0"/>
                        <a:t>• Assumes homogeneous process</a:t>
                      </a:r>
                    </a:p>
                    <a:p>
                      <a:r>
                        <a:rPr lang="en-US" dirty="0"/>
                        <a:t>• Only tests for pattern, doesn't explain </a:t>
                      </a:r>
                      <a:r>
                        <a:rPr lang="en-US" b="1" dirty="0"/>
                        <a:t>why</a:t>
                      </a:r>
                      <a:r>
                        <a:rPr lang="en-US" dirty="0"/>
                        <a:t> patterns exist</a:t>
                      </a:r>
                    </a:p>
                    <a:p>
                      <a:r>
                        <a:rPr lang="en-US" dirty="0"/>
                        <a:t>• Sensitive to edge effects (boundary bias)</a:t>
                      </a:r>
                    </a:p>
                    <a:p>
                      <a:r>
                        <a:rPr lang="en-US" dirty="0"/>
                        <a:t>• Cannot incorporate covariates</a:t>
                      </a:r>
                    </a:p>
                    <a:p>
                      <a:r>
                        <a:rPr lang="en-US" dirty="0"/>
                        <a:t>• Requires stationarity assumption</a:t>
                      </a:r>
                    </a:p>
                  </a:txBody>
                  <a:tcPr/>
                </a:tc>
                <a:extLst>
                  <a:ext uri="{0D108BD9-81ED-4DB2-BD59-A6C34878D82A}">
                    <a16:rowId xmlns:a16="http://schemas.microsoft.com/office/drawing/2014/main" val="372312979"/>
                  </a:ext>
                </a:extLst>
              </a:tr>
              <a:tr h="1686094">
                <a:tc>
                  <a:txBody>
                    <a:bodyPr/>
                    <a:lstStyle/>
                    <a:p>
                      <a:r>
                        <a:rPr lang="en-US" dirty="0"/>
                        <a:t>Moran’s I</a:t>
                      </a:r>
                    </a:p>
                  </a:txBody>
                  <a:tcPr/>
                </a:tc>
                <a:tc>
                  <a:txBody>
                    <a:bodyPr/>
                    <a:lstStyle/>
                    <a:p>
                      <a:r>
                        <a:rPr lang="en-US" dirty="0"/>
                        <a:t>Analyzing spatial autocorrelation in continuous variables</a:t>
                      </a:r>
                    </a:p>
                  </a:txBody>
                  <a:tcPr/>
                </a:tc>
                <a:tc>
                  <a:txBody>
                    <a:bodyPr/>
                    <a:lstStyle/>
                    <a:p>
                      <a:r>
                        <a:rPr lang="en-US" dirty="0"/>
                        <a:t>Measuring whether similar values cluster together spatially</a:t>
                      </a:r>
                    </a:p>
                  </a:txBody>
                  <a:tcPr/>
                </a:tc>
                <a:tc>
                  <a:txBody>
                    <a:bodyPr/>
                    <a:lstStyle/>
                    <a:p>
                      <a:r>
                        <a:rPr lang="en-US" dirty="0"/>
                        <a:t>• Requires defining spatial weights</a:t>
                      </a:r>
                    </a:p>
                    <a:p>
                      <a:r>
                        <a:rPr lang="en-US" dirty="0"/>
                        <a:t>• Works on aggregated/areal data, not individual points</a:t>
                      </a:r>
                    </a:p>
                    <a:p>
                      <a:r>
                        <a:rPr lang="en-US" dirty="0"/>
                        <a:t>• Only provides global measure</a:t>
                      </a:r>
                    </a:p>
                    <a:p>
                      <a:r>
                        <a:rPr lang="en-US" dirty="0"/>
                        <a:t>• Cannot model underlying intensity</a:t>
                      </a:r>
                    </a:p>
                    <a:p>
                      <a:r>
                        <a:rPr lang="en-US" dirty="0"/>
                        <a:t>• Assumes constant spatial relationship </a:t>
                      </a:r>
                    </a:p>
                  </a:txBody>
                  <a:tcPr/>
                </a:tc>
                <a:extLst>
                  <a:ext uri="{0D108BD9-81ED-4DB2-BD59-A6C34878D82A}">
                    <a16:rowId xmlns:a16="http://schemas.microsoft.com/office/drawing/2014/main" val="1657162138"/>
                  </a:ext>
                </a:extLst>
              </a:tr>
              <a:tr h="1686094">
                <a:tc>
                  <a:txBody>
                    <a:bodyPr/>
                    <a:lstStyle/>
                    <a:p>
                      <a:r>
                        <a:rPr lang="en-US" dirty="0"/>
                        <a:t>Point Process Models</a:t>
                      </a:r>
                    </a:p>
                  </a:txBody>
                  <a:tcPr/>
                </a:tc>
                <a:tc>
                  <a:txBody>
                    <a:bodyPr/>
                    <a:lstStyle/>
                    <a:p>
                      <a:r>
                        <a:rPr lang="en-US" dirty="0"/>
                        <a:t>Modelling and predicting point locations; understanding patterns</a:t>
                      </a:r>
                    </a:p>
                  </a:txBody>
                  <a:tcPr/>
                </a:tc>
                <a:tc>
                  <a:txBody>
                    <a:bodyPr/>
                    <a:lstStyle/>
                    <a:p>
                      <a:r>
                        <a:rPr lang="en-US" dirty="0"/>
                        <a:t>Modelling the underlying process that generates point patterns; predictions</a:t>
                      </a:r>
                    </a:p>
                  </a:txBody>
                  <a:tcPr/>
                </a:tc>
                <a:tc>
                  <a:txBody>
                    <a:bodyPr/>
                    <a:lstStyle/>
                    <a:p>
                      <a:r>
                        <a:rPr lang="en-US" dirty="0"/>
                        <a:t>• Requires assumptions about underlying distribution; overdispersion issues if assumptions are violated</a:t>
                      </a:r>
                    </a:p>
                    <a:p>
                      <a:r>
                        <a:rPr lang="en-US" dirty="0"/>
                        <a:t>• Complex to fit and interpret</a:t>
                      </a:r>
                    </a:p>
                    <a:p>
                      <a:r>
                        <a:rPr lang="en-US" dirty="0"/>
                        <a:t>• Requires knowledge of study window/boundaries</a:t>
                      </a:r>
                    </a:p>
                  </a:txBody>
                  <a:tcPr/>
                </a:tc>
                <a:extLst>
                  <a:ext uri="{0D108BD9-81ED-4DB2-BD59-A6C34878D82A}">
                    <a16:rowId xmlns:a16="http://schemas.microsoft.com/office/drawing/2014/main" val="968865387"/>
                  </a:ext>
                </a:extLst>
              </a:tr>
            </a:tbl>
          </a:graphicData>
        </a:graphic>
      </p:graphicFrame>
    </p:spTree>
    <p:extLst>
      <p:ext uri="{BB962C8B-B14F-4D97-AF65-F5344CB8AC3E}">
        <p14:creationId xmlns:p14="http://schemas.microsoft.com/office/powerpoint/2010/main" val="2787690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181658-16EB-B542-CA68-B9728DAE6C3A}"/>
              </a:ext>
            </a:extLst>
          </p:cNvPr>
          <p:cNvSpPr>
            <a:spLocks noGrp="1"/>
          </p:cNvSpPr>
          <p:nvPr>
            <p:ph type="title"/>
          </p:nvPr>
        </p:nvSpPr>
        <p:spPr>
          <a:xfrm>
            <a:off x="5894962" y="479493"/>
            <a:ext cx="5458838" cy="1325563"/>
          </a:xfrm>
        </p:spPr>
        <p:txBody>
          <a:bodyPr>
            <a:normAutofit/>
          </a:bodyPr>
          <a:lstStyle/>
          <a:p>
            <a:r>
              <a:rPr lang="en-US" dirty="0"/>
              <a:t>Metrics</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1879431-C837-1A17-5604-66200D0C7C43}"/>
              </a:ext>
            </a:extLst>
          </p:cNvPr>
          <p:cNvPicPr>
            <a:picLocks noChangeAspect="1"/>
          </p:cNvPicPr>
          <p:nvPr/>
        </p:nvPicPr>
        <p:blipFill>
          <a:blip r:embed="rId2"/>
          <a:stretch>
            <a:fillRect/>
          </a:stretch>
        </p:blipFill>
        <p:spPr>
          <a:xfrm>
            <a:off x="703182" y="1594413"/>
            <a:ext cx="4777381" cy="349943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BFD85F72-0EC6-1AE0-C733-9A0A86D9616B}"/>
              </a:ext>
            </a:extLst>
          </p:cNvPr>
          <p:cNvSpPr>
            <a:spLocks noGrp="1"/>
          </p:cNvSpPr>
          <p:nvPr>
            <p:ph idx="1"/>
          </p:nvPr>
        </p:nvSpPr>
        <p:spPr>
          <a:xfrm>
            <a:off x="5894962" y="1984443"/>
            <a:ext cx="5458838" cy="4192520"/>
          </a:xfrm>
        </p:spPr>
        <p:txBody>
          <a:bodyPr>
            <a:normAutofit/>
          </a:bodyPr>
          <a:lstStyle/>
          <a:p>
            <a:r>
              <a:rPr lang="en-US" dirty="0"/>
              <a:t>Because most of the methods are harder to interpret and conceptualize for the average sports fan, many statisticians started to use metrics that are usually based on physics to help explain trends</a:t>
            </a:r>
          </a:p>
          <a:p>
            <a:r>
              <a:rPr lang="en-US" dirty="0"/>
              <a:t>Some simple examples are acceleration</a:t>
            </a:r>
            <a:r>
              <a:rPr lang="en-US"/>
              <a:t>, total distance </a:t>
            </a:r>
            <a:r>
              <a:rPr lang="en-US" dirty="0"/>
              <a:t>covered, kinetic energy estimates, STRAIN (</a:t>
            </a:r>
            <a:r>
              <a:rPr lang="en-US" b="1" dirty="0"/>
              <a:t>S</a:t>
            </a:r>
            <a:r>
              <a:rPr lang="en-US" dirty="0"/>
              <a:t>peed-</a:t>
            </a:r>
            <a:r>
              <a:rPr lang="en-US" b="1" dirty="0"/>
              <a:t>T</a:t>
            </a:r>
            <a:r>
              <a:rPr lang="en-US" dirty="0"/>
              <a:t>ime </a:t>
            </a:r>
            <a:r>
              <a:rPr lang="en-US" b="1" dirty="0"/>
              <a:t>R</a:t>
            </a:r>
            <a:r>
              <a:rPr lang="en-US" dirty="0"/>
              <a:t>elative </a:t>
            </a:r>
            <a:r>
              <a:rPr lang="en-US" b="1" dirty="0"/>
              <a:t>A</a:t>
            </a:r>
            <a:r>
              <a:rPr lang="en-US" dirty="0"/>
              <a:t>cceleration </a:t>
            </a:r>
            <a:r>
              <a:rPr lang="en-US" b="1" dirty="0" err="1"/>
              <a:t>IN</a:t>
            </a:r>
            <a:r>
              <a:rPr lang="en-US" dirty="0" err="1"/>
              <a:t>dex</a:t>
            </a:r>
            <a:r>
              <a:rPr lang="en-US" dirty="0"/>
              <a:t>)</a:t>
            </a:r>
          </a:p>
          <a:p>
            <a:endParaRPr lang="en-US" dirty="0"/>
          </a:p>
        </p:txBody>
      </p:sp>
      <p:sp>
        <p:nvSpPr>
          <p:cNvPr id="6" name="TextBox 5">
            <a:extLst>
              <a:ext uri="{FF2B5EF4-FFF2-40B4-BE49-F238E27FC236}">
                <a16:creationId xmlns:a16="http://schemas.microsoft.com/office/drawing/2014/main" id="{805787B5-03FD-9867-9398-AD13671A6D26}"/>
              </a:ext>
            </a:extLst>
          </p:cNvPr>
          <p:cNvSpPr txBox="1"/>
          <p:nvPr/>
        </p:nvSpPr>
        <p:spPr>
          <a:xfrm>
            <a:off x="1780568" y="5027375"/>
            <a:ext cx="1950184" cy="369332"/>
          </a:xfrm>
          <a:prstGeom prst="rect">
            <a:avLst/>
          </a:prstGeom>
          <a:noFill/>
        </p:spPr>
        <p:txBody>
          <a:bodyPr wrap="square" rtlCol="0">
            <a:spAutoFit/>
          </a:bodyPr>
          <a:lstStyle/>
          <a:p>
            <a:r>
              <a:rPr lang="en-US" dirty="0"/>
              <a:t>Quang Nguyen</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B6EC620-0B76-CD19-7646-6E51DAFECB9B}"/>
                  </a:ext>
                </a:extLst>
              </p:cNvPr>
              <p:cNvSpPr txBox="1"/>
              <p:nvPr/>
            </p:nvSpPr>
            <p:spPr>
              <a:xfrm>
                <a:off x="1197864" y="841248"/>
                <a:ext cx="3255264" cy="618374"/>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STRAIN</m:t>
                      </m:r>
                      <m:r>
                        <a:rPr lang="en-US" b="0" i="1" smtClean="0">
                          <a:latin typeface="Cambria Math" panose="02040503050406030204" pitchFamily="18" charset="0"/>
                        </a:rPr>
                        <m:t> = -</m:t>
                      </m:r>
                      <m:f>
                        <m:fPr>
                          <m:ctrlPr>
                            <a:rPr lang="en-US" b="0" i="1" smtClean="0">
                              <a:latin typeface="Cambria Math" panose="02040503050406030204" pitchFamily="18" charset="0"/>
                            </a:rPr>
                          </m:ctrlPr>
                        </m:fPr>
                        <m:num>
                          <m:r>
                            <m:rPr>
                              <m:sty m:val="p"/>
                            </m:rPr>
                            <a:rPr lang="en-US" b="0" i="1" smtClean="0">
                              <a:latin typeface="Cambria Math" panose="02040503050406030204" pitchFamily="18" charset="0"/>
                            </a:rPr>
                            <m:t>velocity</m:t>
                          </m:r>
                        </m:num>
                        <m:den>
                          <m:r>
                            <m:rPr>
                              <m:sty m:val="p"/>
                            </m:rPr>
                            <a:rPr lang="en-US" b="0" i="1" smtClean="0">
                              <a:latin typeface="Cambria Math" panose="02040503050406030204" pitchFamily="18" charset="0"/>
                            </a:rPr>
                            <m:t>distance</m:t>
                          </m:r>
                        </m:den>
                      </m:f>
                    </m:oMath>
                  </m:oMathPara>
                </a14:m>
                <a:endParaRPr lang="en-US" dirty="0"/>
              </a:p>
            </p:txBody>
          </p:sp>
        </mc:Choice>
        <mc:Fallback>
          <p:sp>
            <p:nvSpPr>
              <p:cNvPr id="7" name="TextBox 6">
                <a:extLst>
                  <a:ext uri="{FF2B5EF4-FFF2-40B4-BE49-F238E27FC236}">
                    <a16:creationId xmlns:a16="http://schemas.microsoft.com/office/drawing/2014/main" id="{8B6EC620-0B76-CD19-7646-6E51DAFECB9B}"/>
                  </a:ext>
                </a:extLst>
              </p:cNvPr>
              <p:cNvSpPr txBox="1">
                <a:spLocks noRot="1" noChangeAspect="1" noMove="1" noResize="1" noEditPoints="1" noAdjustHandles="1" noChangeArrowheads="1" noChangeShapeType="1" noTextEdit="1"/>
              </p:cNvSpPr>
              <p:nvPr/>
            </p:nvSpPr>
            <p:spPr>
              <a:xfrm>
                <a:off x="1197864" y="841248"/>
                <a:ext cx="3255264" cy="61837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34983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Arc 33">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useBgFill="1">
        <p:nvSpPr>
          <p:cNvPr id="35" name="Rectangle 34">
            <a:extLst>
              <a:ext uri="{FF2B5EF4-FFF2-40B4-BE49-F238E27FC236}">
                <a16:creationId xmlns:a16="http://schemas.microsoft.com/office/drawing/2014/main" id="{D0461F72-A27E-48C5-A99A-B5EEDA745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49557A-FDE2-C951-09A1-2E60B4BD5B71}"/>
              </a:ext>
            </a:extLst>
          </p:cNvPr>
          <p:cNvSpPr>
            <a:spLocks noGrp="1"/>
          </p:cNvSpPr>
          <p:nvPr>
            <p:ph type="title"/>
          </p:nvPr>
        </p:nvSpPr>
        <p:spPr>
          <a:xfrm>
            <a:off x="1524000" y="3349167"/>
            <a:ext cx="9144000" cy="1748373"/>
          </a:xfrm>
        </p:spPr>
        <p:txBody>
          <a:bodyPr vert="horz" lIns="91440" tIns="45720" rIns="91440" bIns="45720" rtlCol="0" anchor="b">
            <a:normAutofit/>
          </a:bodyPr>
          <a:lstStyle/>
          <a:p>
            <a:pPr algn="ctr"/>
            <a:r>
              <a:rPr lang="en-US" sz="6000" kern="1200" dirty="0">
                <a:solidFill>
                  <a:schemeClr val="tx1"/>
                </a:solidFill>
                <a:latin typeface="+mj-lt"/>
                <a:ea typeface="+mj-ea"/>
                <a:cs typeface="+mj-cs"/>
              </a:rPr>
              <a:t>Questions/Comments?</a:t>
            </a:r>
          </a:p>
        </p:txBody>
      </p:sp>
      <p:pic>
        <p:nvPicPr>
          <p:cNvPr id="7" name="Graphic 6" descr="Help">
            <a:extLst>
              <a:ext uri="{FF2B5EF4-FFF2-40B4-BE49-F238E27FC236}">
                <a16:creationId xmlns:a16="http://schemas.microsoft.com/office/drawing/2014/main" id="{8BD11562-B6E4-FC61-8186-B206A5BA77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69584" y="643467"/>
            <a:ext cx="2452830" cy="2452830"/>
          </a:xfrm>
          <a:custGeom>
            <a:avLst/>
            <a:gdLst/>
            <a:ahLst/>
            <a:cxnLst/>
            <a:rect l="l" t="t" r="r" b="b"/>
            <a:pathLst>
              <a:path w="9143998" h="2473607">
                <a:moveTo>
                  <a:pt x="64634" y="0"/>
                </a:moveTo>
                <a:lnTo>
                  <a:pt x="9079363" y="0"/>
                </a:lnTo>
                <a:cubicBezTo>
                  <a:pt x="9115060" y="0"/>
                  <a:pt x="9143998" y="28938"/>
                  <a:pt x="9143998" y="64635"/>
                </a:cubicBezTo>
                <a:lnTo>
                  <a:pt x="9143998" y="2408972"/>
                </a:lnTo>
                <a:cubicBezTo>
                  <a:pt x="9143998" y="2444669"/>
                  <a:pt x="9115060" y="2473607"/>
                  <a:pt x="9079363" y="2473607"/>
                </a:cubicBezTo>
                <a:lnTo>
                  <a:pt x="64634" y="2473607"/>
                </a:lnTo>
                <a:cubicBezTo>
                  <a:pt x="46786" y="2473607"/>
                  <a:pt x="30627" y="2466373"/>
                  <a:pt x="18930" y="2454676"/>
                </a:cubicBezTo>
                <a:lnTo>
                  <a:pt x="0" y="2408974"/>
                </a:lnTo>
                <a:lnTo>
                  <a:pt x="0" y="64633"/>
                </a:lnTo>
                <a:lnTo>
                  <a:pt x="18930" y="18931"/>
                </a:lnTo>
                <a:cubicBezTo>
                  <a:pt x="30627" y="7235"/>
                  <a:pt x="46786" y="0"/>
                  <a:pt x="64634" y="0"/>
                </a:cubicBezTo>
                <a:close/>
              </a:path>
            </a:pathLst>
          </a:custGeom>
        </p:spPr>
      </p:pic>
      <p:sp>
        <p:nvSpPr>
          <p:cNvPr id="36" name="Oval 35">
            <a:extLst>
              <a:ext uri="{FF2B5EF4-FFF2-40B4-BE49-F238E27FC236}">
                <a16:creationId xmlns:a16="http://schemas.microsoft.com/office/drawing/2014/main" id="{DF382E8D-312B-4792-A211-0BDE37F6F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5562" y="2623216"/>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9BD5"/>
              </a:solidFill>
              <a:effectLst/>
              <a:uLnTx/>
              <a:uFillTx/>
              <a:latin typeface="Calibri" panose="020F0502020204030204"/>
              <a:ea typeface="+mn-ea"/>
              <a:cs typeface="+mn-cs"/>
            </a:endParaRPr>
          </a:p>
        </p:txBody>
      </p:sp>
      <p:sp>
        <p:nvSpPr>
          <p:cNvPr id="37" name="Arc 36">
            <a:extLst>
              <a:ext uri="{FF2B5EF4-FFF2-40B4-BE49-F238E27FC236}">
                <a16:creationId xmlns:a16="http://schemas.microsoft.com/office/drawing/2014/main" id="{036F9B07-02BE-4BD5-BA9D-E91B8A456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8539" y="361268"/>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171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6940-5883-9FC5-53AD-9B087D2A7457}"/>
              </a:ext>
            </a:extLst>
          </p:cNvPr>
          <p:cNvSpPr>
            <a:spLocks noGrp="1"/>
          </p:cNvSpPr>
          <p:nvPr>
            <p:ph type="title"/>
          </p:nvPr>
        </p:nvSpPr>
        <p:spPr/>
        <p:txBody>
          <a:bodyPr/>
          <a:lstStyle/>
          <a:p>
            <a:r>
              <a:rPr lang="en-US" dirty="0"/>
              <a:t>Works Cited</a:t>
            </a:r>
          </a:p>
        </p:txBody>
      </p:sp>
      <p:sp>
        <p:nvSpPr>
          <p:cNvPr id="3" name="Content Placeholder 2">
            <a:extLst>
              <a:ext uri="{FF2B5EF4-FFF2-40B4-BE49-F238E27FC236}">
                <a16:creationId xmlns:a16="http://schemas.microsoft.com/office/drawing/2014/main" id="{01F942FA-21D4-36C8-DF91-1E1BC428634C}"/>
              </a:ext>
            </a:extLst>
          </p:cNvPr>
          <p:cNvSpPr>
            <a:spLocks noGrp="1"/>
          </p:cNvSpPr>
          <p:nvPr>
            <p:ph idx="1"/>
          </p:nvPr>
        </p:nvSpPr>
        <p:spPr>
          <a:xfrm>
            <a:off x="838200" y="1690688"/>
            <a:ext cx="10515600" cy="3994679"/>
          </a:xfrm>
        </p:spPr>
        <p:txBody>
          <a:bodyPr>
            <a:normAutofit fontScale="77500" lnSpcReduction="20000"/>
          </a:bodyPr>
          <a:lstStyle/>
          <a:p>
            <a:r>
              <a:rPr lang="en-US" dirty="0"/>
              <a:t>Oksanen, J., Bergman, C., Sainio, J., &amp; Westerholm, J. (2015). Methods for deriving and calibrating privacy-preserving heat maps from mobile sports tracking application data. </a:t>
            </a:r>
            <a:r>
              <a:rPr lang="en-US" i="1" dirty="0"/>
              <a:t>Journal of Transport Geography</a:t>
            </a:r>
            <a:r>
              <a:rPr lang="en-US" dirty="0"/>
              <a:t>, </a:t>
            </a:r>
            <a:r>
              <a:rPr lang="en-US" i="1" dirty="0"/>
              <a:t>48</a:t>
            </a:r>
            <a:r>
              <a:rPr lang="en-US" dirty="0"/>
              <a:t>, 135–144. https://doi.org/10.1016/j.jtrangeo.2015.09.001</a:t>
            </a:r>
          </a:p>
          <a:p>
            <a:r>
              <a:rPr lang="en-US" dirty="0"/>
              <a:t>Kovalchik, S. A. (2023). Player tracking data in sports. </a:t>
            </a:r>
            <a:r>
              <a:rPr lang="en-US" i="1" dirty="0"/>
              <a:t>Annual Review of Statistics and Its Application</a:t>
            </a:r>
            <a:r>
              <a:rPr lang="en-US" dirty="0"/>
              <a:t>, </a:t>
            </a:r>
            <a:r>
              <a:rPr lang="en-US" i="1" dirty="0"/>
              <a:t>10</a:t>
            </a:r>
            <a:r>
              <a:rPr lang="en-US" dirty="0"/>
              <a:t>, 677–697. </a:t>
            </a:r>
            <a:r>
              <a:rPr lang="en-US" dirty="0">
                <a:hlinkClick r:id="rId2"/>
              </a:rPr>
              <a:t>https://doi.org/10.1146/annurev-statistics-033021-110117</a:t>
            </a:r>
            <a:endParaRPr lang="en-US" dirty="0"/>
          </a:p>
          <a:p>
            <a:r>
              <a:rPr lang="en-US" dirty="0" err="1"/>
              <a:t>Abousamra</a:t>
            </a:r>
            <a:r>
              <a:rPr lang="en-US" dirty="0"/>
              <a:t>, Shahira &amp; Gupta, </a:t>
            </a:r>
            <a:r>
              <a:rPr lang="en-US" dirty="0" err="1"/>
              <a:t>Rajarsi</a:t>
            </a:r>
            <a:r>
              <a:rPr lang="en-US" dirty="0"/>
              <a:t> &amp; Kurc, Tahsin &amp; Saltz, Joel &amp; Chen, Chao. (2023). Topology-Guided Multi-Class Cell Context Generation for Digital Pathology. 10.48550/arXiv.2304.02255.</a:t>
            </a:r>
          </a:p>
          <a:p>
            <a:r>
              <a:rPr lang="en-US" dirty="0"/>
              <a:t>Papa, Anna &amp; </a:t>
            </a:r>
            <a:r>
              <a:rPr lang="en-US" dirty="0" err="1"/>
              <a:t>Sidira</a:t>
            </a:r>
            <a:r>
              <a:rPr lang="en-US" dirty="0"/>
              <a:t>, Persefoni &amp; </a:t>
            </a:r>
            <a:r>
              <a:rPr lang="en-US" dirty="0" err="1"/>
              <a:t>Tsatsaris</a:t>
            </a:r>
            <a:r>
              <a:rPr lang="en-US" dirty="0"/>
              <a:t>, Andreas. (2016). Spatial cluster analysis of Crimean-Congo hemorrhagic fever virus seroprevalence in humans, Greece. Parasite Epidemiology and Control. 1. 10.1016/j.parepi.2016.08.002.</a:t>
            </a:r>
          </a:p>
          <a:p>
            <a:r>
              <a:rPr lang="en-US" i="1" dirty="0"/>
              <a:t>Spatial point processes and simulation</a:t>
            </a:r>
            <a:r>
              <a:rPr lang="en-US" dirty="0"/>
              <a:t>. In </a:t>
            </a:r>
            <a:r>
              <a:rPr lang="en-US" i="1" dirty="0"/>
              <a:t>Spatial Statistics for Data Science: Theory and Practice with R</a:t>
            </a:r>
            <a:r>
              <a:rPr lang="en-US" dirty="0"/>
              <a:t>. </a:t>
            </a:r>
            <a:r>
              <a:rPr lang="en-US" dirty="0">
                <a:hlinkClick r:id="rId3"/>
              </a:rPr>
              <a:t>https://www.paulamoraga.com/book-spatial/spatial-point-processes-and-simulation.html</a:t>
            </a:r>
            <a:endParaRPr lang="en-US" dirty="0"/>
          </a:p>
        </p:txBody>
      </p:sp>
    </p:spTree>
    <p:extLst>
      <p:ext uri="{BB962C8B-B14F-4D97-AF65-F5344CB8AC3E}">
        <p14:creationId xmlns:p14="http://schemas.microsoft.com/office/powerpoint/2010/main" val="1926940806"/>
      </p:ext>
    </p:extLst>
  </p:cSld>
  <p:clrMapOvr>
    <a:masterClrMapping/>
  </p:clrMapOvr>
</p:sld>
</file>

<file path=ppt/theme/theme1.xml><?xml version="1.0" encoding="utf-8"?>
<a:theme xmlns:a="http://schemas.openxmlformats.org/drawingml/2006/main" name="ShapesVTI">
  <a:themeElements>
    <a:clrScheme name="Office">
      <a:dk1>
        <a:srgbClr val="000000"/>
      </a:dk1>
      <a:lt1>
        <a:srgbClr val="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6079</TotalTime>
  <Words>912</Words>
  <Application>Microsoft Office PowerPoint</Application>
  <PresentationFormat>Widescreen</PresentationFormat>
  <Paragraphs>87</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Cambria Math</vt:lpstr>
      <vt:lpstr>Century Gothic</vt:lpstr>
      <vt:lpstr>ShapesVTI</vt:lpstr>
      <vt:lpstr>Spatial Statistics in Sports</vt:lpstr>
      <vt:lpstr>What is Spatial Statistics?</vt:lpstr>
      <vt:lpstr>Basis of Spatial Statistical Techniques</vt:lpstr>
      <vt:lpstr>How to do EDA with Spatial Data?</vt:lpstr>
      <vt:lpstr>Animating the Data</vt:lpstr>
      <vt:lpstr>Outcome Probabilities</vt:lpstr>
      <vt:lpstr>Heat Maps</vt:lpstr>
      <vt:lpstr>Voronoi Tessellation (Spatial Ownership)</vt:lpstr>
      <vt:lpstr>Ripley’s K-function</vt:lpstr>
      <vt:lpstr>Moran’s I</vt:lpstr>
      <vt:lpstr>Spatial point process models</vt:lpstr>
      <vt:lpstr>Comparing Methods and Limitations</vt:lpstr>
      <vt:lpstr>Metrics</vt:lpstr>
      <vt:lpstr>Questions/Comments?</vt:lpstr>
      <vt:lpstr>Works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Culp, Zach</dc:creator>
  <cp:lastModifiedBy>Culp, Zach</cp:lastModifiedBy>
  <cp:revision>64</cp:revision>
  <dcterms:created xsi:type="dcterms:W3CDTF">2025-09-26T18:52:03Z</dcterms:created>
  <dcterms:modified xsi:type="dcterms:W3CDTF">2025-10-01T00:11:05Z</dcterms:modified>
</cp:coreProperties>
</file>