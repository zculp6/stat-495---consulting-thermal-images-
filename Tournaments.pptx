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2AA8-F5D2-BC61-2319-9E80A6101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EC638-CAED-351F-21B8-BC2F484C8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56642-3DBA-F19A-5A4D-645F0A85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1FB57-E586-EBD6-1695-9C9152FD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5265A-364F-9810-FFB1-E6BE5D87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21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1504-DA38-0C9C-3C5C-FAF63E9E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FE920-FD85-2194-4D97-4D6D3EA17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70BEC-48D6-3BD8-6FF7-B4DFB498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EA96-6E7A-79B1-9A13-2D00F8BB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E4652-2922-EBE1-4844-3AC335FB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90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22E5-331E-EC34-675D-49F0DDC67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54400-3DB2-B53C-ACAE-15AA2B57B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C7CF6-A8F3-F3C8-3ADD-0216F3AD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32FCF-E3E4-B71C-B2AF-516CA00E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58FA2-99B0-622C-AC97-FF4D71AE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85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DCBC-9EC3-129F-17AA-038F9886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0E0CF-F235-294E-2913-7054FB201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AAFD1-D417-F0F0-449C-679B770D8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935E5-BE25-B1A0-1C56-8A8CAF3D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2B6EE-FECA-BA0A-10C8-0F5AC27F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0B11E-D2AB-D7BF-F9E3-C8F83962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64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607E-F7F4-C3AC-D0B0-E3417F40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332F2-86D6-B61F-1400-CBE2A1145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7F631-7718-5B46-FDAE-3D571EA6C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753CA1-2C42-7E4E-B457-8C9E41735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C744D-F30D-A26F-D8B6-450BFB657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CDDB5E-7BA9-8789-6C27-97ACD766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2165EC-A1CA-CAEF-9087-4E103A02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5A68C-C02C-6F92-BEC6-913B1D5CD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1317-FA99-F69A-474E-C981BFDF8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21BD2-099D-4A3A-922A-E8469F508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82980-8162-377F-74E2-56405A5E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EEBF4-6B5E-10ED-AAC9-51F8B56F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94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D49737-2B21-335C-1BFC-BA20ED93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D10B8-2512-D774-CBE1-CD76DAD2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A55F-EFE1-9AED-C03F-788BBD4E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10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6EC-684C-8AF6-393E-D802D5A6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61B27-8745-E4A9-8EC8-D8C11D928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1A091-ECF2-7E52-E948-C938C2998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B7B31-0225-1293-2B65-2781E636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88BC6-8980-61EE-FF4F-B0F5D5F8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9AF21-4057-A7DF-D8BD-457CEA75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761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E923-654C-46A9-91D8-1D468BFE1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21244-532C-96F3-0871-7856C8991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338B1-AB2C-BACC-B622-AF6711B3A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F1444-3599-CEBB-D64A-D03EC5C6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06975-3956-D7C1-9166-41B529B5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AB672-74E9-20E0-88EF-7A44CFEC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5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5535-05E2-8A6E-8593-DCBF6852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4C6AF-9ABC-BA99-A10A-8213FDC75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73DCF-B099-8991-A074-72CD325C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0A5FC-C3A9-311D-F3DD-4AFF8877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578EF-4FBF-390C-A610-062B6200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8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D8D6A2-F8B2-DAC6-8D18-4875FAB6F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15084-C437-B7C3-ACF8-4EBBAA6F6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F74CA-D9DF-C590-E01D-B2F6862C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68B64-CC2D-BA80-6BC2-60CF3857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63E75-9C24-80AB-452D-7B1844203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5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2BAC0-38C5-CB1C-D5BD-3C7D62BE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A45F6-647B-223E-A406-DE44226EB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A428F-11FA-F120-8A32-61E44F30C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E7504-9105-4FC4-9541-C25F2295AC58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22E22-D2A7-39FF-31A5-0A21B1D13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421A1-FB3B-8713-DCAB-EFC0BF866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477D7-4ABE-4C11-83E5-553F0D8728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0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m112/tournaments/blob/main/manuscript/paper.pdf" TargetMode="External"/><Relationship Id="rId2" Type="http://schemas.openxmlformats.org/officeDocument/2006/relationships/hyperlink" Target="https://github.com/gjm112/tournaments/tree/ma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C6D4-80C1-5E12-5754-F91CBEF73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Tournaments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CEFD3-F182-0C07-7756-491997BEED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Zach Culp</a:t>
            </a:r>
          </a:p>
        </p:txBody>
      </p:sp>
    </p:spTree>
    <p:extLst>
      <p:ext uri="{BB962C8B-B14F-4D97-AF65-F5344CB8AC3E}">
        <p14:creationId xmlns:p14="http://schemas.microsoft.com/office/powerpoint/2010/main" val="365133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4F8B8-3D94-F91E-20DF-D09B1194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36362-5489-2D3D-5ED6-B40295F0E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tournaments recently changed their formats, most notably the CFB changed to the 12-team playoff format.</a:t>
            </a:r>
          </a:p>
          <a:p>
            <a:r>
              <a:rPr lang="en-US" dirty="0"/>
              <a:t>But which tournament is objectively the best structure at accurately getting the true best team first</a:t>
            </a:r>
          </a:p>
          <a:p>
            <a:r>
              <a:rPr lang="en-US" dirty="0"/>
              <a:t>What about the top 3, top 5, etc.?</a:t>
            </a:r>
          </a:p>
        </p:txBody>
      </p:sp>
    </p:spTree>
    <p:extLst>
      <p:ext uri="{BB962C8B-B14F-4D97-AF65-F5344CB8AC3E}">
        <p14:creationId xmlns:p14="http://schemas.microsoft.com/office/powerpoint/2010/main" val="2524832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2BD1-7112-5748-3AF5-6619F279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1082D-59F6-1093-58B3-8DABF6BC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/>
          <a:lstStyle/>
          <a:p>
            <a:r>
              <a:rPr lang="en-US" dirty="0"/>
              <a:t>Each team is assigned a “known strength”</a:t>
            </a:r>
          </a:p>
          <a:p>
            <a:r>
              <a:rPr lang="en-US" dirty="0"/>
              <a:t>A game is simulated using the Bradley-Terry model</a:t>
            </a:r>
          </a:p>
          <a:p>
            <a:r>
              <a:rPr lang="en-US" dirty="0"/>
              <a:t>A number is randomly selected from a Uniform distribution from 0 to 1 and if the number is less than the probability, then team 1 wins.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1C854-9E64-5AEC-1C39-30EFC7FEE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31" y="4325666"/>
            <a:ext cx="6945745" cy="167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36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EEDA-8E20-4544-A54F-5ADE497B6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Tournament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83D6-6313-8596-B173-408E8F171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tournament is simulated given the number of teams, “known” team strengths, and other notable variations in each tournament (e.g. third place game)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AE422-E2C3-D4AC-8773-E73E36D80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" y="3792676"/>
            <a:ext cx="10996613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4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37BD-1645-3EDB-A900-A61051C8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ED9D0-D424-4392-B7CA-3E95A6E77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one views the true ranking of the teams in a tournament as a message to be sent to a receiver and the outcome of the tournament as a message that is received, we can measure the “goodness” of a tournament in terms of its ability to accurately transmit the true ranking.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672F5-BFBF-C50E-BD56-22055AD2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40" y="3838049"/>
            <a:ext cx="6472896" cy="1378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C2756F-1612-F489-F334-A5FB0F2C1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39" y="5216892"/>
            <a:ext cx="8175651" cy="15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1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7B37-50BD-6672-1220-78790C7D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 (Continued)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9543A6-9876-AF5E-0F8F-5685D73528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limitation of this metric is that it does not distinguish between direction of information</a:t>
                </a:r>
              </a:p>
              <a:p>
                <a:r>
                  <a:rPr lang="en-US" dirty="0"/>
                  <a:t>In other words, a ranking of (1,2,3,4) is equivalent to (4,3,2,1)</a:t>
                </a:r>
              </a:p>
              <a:p>
                <a:r>
                  <a:rPr lang="en-US" dirty="0"/>
                  <a:t>Because of this, we proposed a weighting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and a secondary weighting vector </a:t>
                </a:r>
                <a:r>
                  <a:rPr lang="en-US" i="1" dirty="0"/>
                  <a:t>m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9543A6-9876-AF5E-0F8F-5685D7352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6AADDB7-3743-AD42-1B10-8EC8D1612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19" y="4491231"/>
            <a:ext cx="8779418" cy="134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3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D36D-2C3B-63BE-7022-2706DC65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Weighting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BB222B-231A-EE6A-E815-C6A0EA16E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“Weighted Kendall”: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Where, w is a n x n matrix of all 1’s and each row and column is multiplied by the corresponding m value</a:t>
                </a:r>
              </a:p>
              <a:p>
                <a:pPr lvl="1"/>
                <a:r>
                  <a:rPr lang="en-US" dirty="0"/>
                  <a:t>m: “salient weights” are the importance of correctly getting each ranking</a:t>
                </a:r>
              </a:p>
              <a:p>
                <a:pPr lvl="1"/>
                <a:r>
                  <a:rPr lang="en-US" dirty="0"/>
                  <a:t>m is a vector of length n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then the ranking is identical to the correct ranks, 0.5 is completely random, and 0 is reverse order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BB222B-231A-EE6A-E815-C6A0EA16E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70F963F-8C84-9C0B-DC26-688879C3F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755" y="1469163"/>
            <a:ext cx="5335700" cy="95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3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02BB8-0BB2-E9DA-C9D6-0A172FC1A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“Salient Weights”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2A892E-70F8-2EFF-10C2-79A8176C2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there are 4 teams in total, and m = (5,3,0,0) then the matrix, </a:t>
            </a:r>
            <a:r>
              <a:rPr lang="en-US" i="1" dirty="0"/>
              <a:t>w</a:t>
            </a:r>
            <a:r>
              <a:rPr lang="en-US" dirty="0"/>
              <a:t>, looks like: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FC1DEE-CD13-931A-8319-E4F4EB498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17" y="2808203"/>
            <a:ext cx="4877223" cy="196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5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2BA9-0E73-0888-0428-E81E9D9C5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Rajski’s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A4C600-7595-BF2A-0744-EC3F0D1604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1 – Mutual Information / Joint Entropy</a:t>
                </a:r>
              </a:p>
              <a:p>
                <a:r>
                  <a:rPr lang="en-US" dirty="0"/>
                  <a:t>Entropy: “a measure of the expected uncertainty involved in a measurement of x” (Korn).</a:t>
                </a:r>
              </a:p>
              <a:p>
                <a:r>
                  <a:rPr lang="en-US" dirty="0"/>
                  <a:t>Joint Entropy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 is used as a normalizing constant as it is equal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baseline="-25000" dirty="0"/>
              </a:p>
              <a:p>
                <a:r>
                  <a:rPr lang="en-US" dirty="0"/>
                  <a:t>We do not subtract 1 by this value because it gives us a value of 1 being the best, and 0 being the worst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A4C600-7595-BF2A-0744-EC3F0D160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462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41EB-CAE0-52DF-0E68-BABD25E7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449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02AA4-012E-B6A9-1F57-E04243EA4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384"/>
            <a:ext cx="10515600" cy="4351338"/>
          </a:xfrm>
        </p:spPr>
        <p:txBody>
          <a:bodyPr/>
          <a:lstStyle/>
          <a:p>
            <a:r>
              <a:rPr lang="en-US" dirty="0"/>
              <a:t>Each tournament is run with 10,000 simulations</a:t>
            </a:r>
          </a:p>
          <a:p>
            <a:r>
              <a:rPr lang="en-US" dirty="0"/>
              <a:t>The plots below are tournaments with 8 teams:</a:t>
            </a:r>
          </a:p>
        </p:txBody>
      </p:sp>
      <p:pic>
        <p:nvPicPr>
          <p:cNvPr id="17" name="Picture 16" descr="A graph of different colored lines">
            <a:extLst>
              <a:ext uri="{FF2B5EF4-FFF2-40B4-BE49-F238E27FC236}">
                <a16:creationId xmlns:a16="http://schemas.microsoft.com/office/drawing/2014/main" id="{A79597FF-17B9-7D09-0F56-9A3C05A0B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5056"/>
            <a:ext cx="4480258" cy="3937819"/>
          </a:xfrm>
          <a:prstGeom prst="rect">
            <a:avLst/>
          </a:prstGeom>
        </p:spPr>
      </p:pic>
      <p:pic>
        <p:nvPicPr>
          <p:cNvPr id="19" name="Picture 18" descr="A graph of different colored lines">
            <a:extLst>
              <a:ext uri="{FF2B5EF4-FFF2-40B4-BE49-F238E27FC236}">
                <a16:creationId xmlns:a16="http://schemas.microsoft.com/office/drawing/2014/main" id="{0AA1A241-F07A-DA31-7F53-6C23A2532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55056"/>
            <a:ext cx="4480258" cy="393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40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9C5B-15E8-5966-C001-98318EAC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022C4-1E26-9F63-2CD7-AE69352D2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results are heavily dependent on the weighting structure</a:t>
            </a:r>
          </a:p>
          <a:p>
            <a:pPr lvl="1"/>
            <a:r>
              <a:rPr lang="en-US" dirty="0"/>
              <a:t>Attempted with Sum Squared Error, Spearman Correlation, Absolute Error, and more with varying results</a:t>
            </a:r>
          </a:p>
          <a:p>
            <a:r>
              <a:rPr lang="en-US" dirty="0"/>
              <a:t> The “known” strengths are assumptions that can be estimated but never truly known</a:t>
            </a:r>
          </a:p>
          <a:p>
            <a:r>
              <a:rPr lang="en-US" dirty="0"/>
              <a:t>Ties are not addressed in any of the games</a:t>
            </a:r>
          </a:p>
          <a:p>
            <a:r>
              <a:rPr lang="en-US" dirty="0"/>
              <a:t>Ties in the overall ranking are randomly sorted (e.g. teams that lose the first game of a single elimination tournament)</a:t>
            </a:r>
          </a:p>
        </p:txBody>
      </p:sp>
    </p:spTree>
    <p:extLst>
      <p:ext uri="{BB962C8B-B14F-4D97-AF65-F5344CB8AC3E}">
        <p14:creationId xmlns:p14="http://schemas.microsoft.com/office/powerpoint/2010/main" val="283339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19AA-629D-8E2F-FD5F-7F950CCC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4D786-2AB5-C300-2932-C322ABCFA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estimated strengths from a real league and calculate the metric for different structures</a:t>
            </a:r>
          </a:p>
          <a:p>
            <a:r>
              <a:rPr lang="en-US" dirty="0"/>
              <a:t>Publish findings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381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4DB27-6883-3515-0300-05B5B458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D0115-7EBE-E56C-B583-A12508362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Appleton, David R. 1995. “May the Best Man Win?” Statistician 44 (4): 529. Csato, L. 2021. Tournament Design: How Operations Research Can Improve Sports Rules. 1st Ed. Cham, Switzerland: Palgrave Macmillan. </a:t>
            </a:r>
          </a:p>
          <a:p>
            <a:r>
              <a:rPr lang="en-US" dirty="0"/>
              <a:t>Devriesere, Csató, K., and D. Goossens. 2025. “Tournament Design: A Review from an Operational Research Perspective.” European Journal of Operational Research 324 (1): 1–21. </a:t>
            </a:r>
          </a:p>
          <a:p>
            <a:r>
              <a:rPr lang="en-US" dirty="0"/>
              <a:t>Glenn, W A. 1960. “A Comparison of the Effectiveness of Tournaments.” Biometrika 47 (3-4): 253–62. </a:t>
            </a:r>
          </a:p>
          <a:p>
            <a:r>
              <a:rPr lang="en-US" dirty="0"/>
              <a:t>Guiasu, Silviu. 1977. Information Theory with Applications. New York, NY: McGraw-Hill. </a:t>
            </a:r>
          </a:p>
          <a:p>
            <a:r>
              <a:rPr lang="en-US" dirty="0"/>
              <a:t>Johnson, Sidney, and Rodney Fort. 2022. “Match Outcome Uncertainty and Sports Fan Demand: An Agnostic Review and the Standard Economic Theory of Ports Leagues.” Int. J. Emp. Econ. 01 (02). </a:t>
            </a:r>
          </a:p>
          <a:p>
            <a:r>
              <a:rPr lang="en-US" dirty="0"/>
              <a:t>Korn, </a:t>
            </a:r>
            <a:r>
              <a:rPr lang="en-US" dirty="0" err="1"/>
              <a:t>Granino</a:t>
            </a:r>
            <a:r>
              <a:rPr lang="en-US" dirty="0"/>
              <a:t> A., and Theresa M. Korn. 1961. </a:t>
            </a:r>
            <a:r>
              <a:rPr lang="en-US" i="1" dirty="0"/>
              <a:t>Mathematical Handbook for Scientists and Engineers: Definitions, Theorems, and Formulas for Reference and Review.</a:t>
            </a:r>
            <a:r>
              <a:rPr lang="en-US" dirty="0"/>
              <a:t> New York, NY: McGraw-Hill. </a:t>
            </a:r>
          </a:p>
          <a:p>
            <a:r>
              <a:rPr lang="en-US" dirty="0"/>
              <a:t>Lasek, Jan, and Marek Gagolewski. 2018. “The Efficacy of League Formats in Ranking Teams.” Stat. Modelling 18 (5-6): 411–35. </a:t>
            </a:r>
          </a:p>
          <a:p>
            <a:r>
              <a:rPr lang="en-US" dirty="0"/>
              <a:t>Sziklai, Balázs R, Péter Biró, and László Csató. 2022. “The Efficacy of Tournament Designs.” Comput. Oper. Res. 144 (105821): 105821.</a:t>
            </a:r>
          </a:p>
        </p:txBody>
      </p:sp>
    </p:spTree>
    <p:extLst>
      <p:ext uri="{BB962C8B-B14F-4D97-AF65-F5344CB8AC3E}">
        <p14:creationId xmlns:p14="http://schemas.microsoft.com/office/powerpoint/2010/main" val="376874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4B32-3A65-9D6F-EA26-001B79CC21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Additional Slides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E3EA403-0EC7-18D0-FB77-D3E859CE01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54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2C38-E068-6E0D-1F58-2A413705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Perfectly Random Proof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E1DD48-3471-A11F-4F2E-C5E8E7C8F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924738" cy="45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79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199E-ABD7-B8AD-6429-2372B50A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and Github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6CC6E-AF50-6B2B-09C5-50AFB2E77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https://github.com/gjm112/tournaments/tree/main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https://github.com/gjm112/tournaments/blob/main/manuscript/paper.pdf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2510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847</Words>
  <Application>Microsoft Office PowerPoint</Application>
  <PresentationFormat>Widescreen</PresentationFormat>
  <Paragraphs>58</Paragraphs>
  <Slides>16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Tournaments</vt:lpstr>
      <vt:lpstr>Why?</vt:lpstr>
      <vt:lpstr>Game Simulations</vt:lpstr>
      <vt:lpstr>Tournament Simulations</vt:lpstr>
      <vt:lpstr>Mutual Information</vt:lpstr>
      <vt:lpstr>Mutual Information (Continued)</vt:lpstr>
      <vt:lpstr>Weighting Function</vt:lpstr>
      <vt:lpstr>“Salient Weights”</vt:lpstr>
      <vt:lpstr>Rajski’s Distance</vt:lpstr>
      <vt:lpstr>Results</vt:lpstr>
      <vt:lpstr>Limitations</vt:lpstr>
      <vt:lpstr>Next Steps</vt:lpstr>
      <vt:lpstr>References</vt:lpstr>
      <vt:lpstr>Additional Slides</vt:lpstr>
      <vt:lpstr>Perfectly Random Proof</vt:lpstr>
      <vt:lpstr>Paper and Github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Culp, Zach</dc:creator>
  <cp:lastModifiedBy>Culp, Zach</cp:lastModifiedBy>
  <cp:revision>41</cp:revision>
  <dcterms:created xsi:type="dcterms:W3CDTF">2025-10-06T21:22:12Z</dcterms:created>
  <dcterms:modified xsi:type="dcterms:W3CDTF">2025-10-07T01:36:45Z</dcterms:modified>
</cp:coreProperties>
</file>